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63" r:id="rId5"/>
    <p:sldId id="259" r:id="rId6"/>
    <p:sldId id="274" r:id="rId7"/>
    <p:sldId id="260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5" r:id="rId17"/>
    <p:sldId id="276" r:id="rId18"/>
    <p:sldId id="277" r:id="rId19"/>
    <p:sldId id="278" r:id="rId20"/>
    <p:sldId id="271" r:id="rId21"/>
    <p:sldId id="272" r:id="rId22"/>
    <p:sldId id="273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2DFB94-C9CC-114F-80B9-CF052D6B967C}" v="88" dt="2021-03-18T11:01:50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868"/>
    <p:restoredTop sz="93553"/>
  </p:normalViewPr>
  <p:slideViewPr>
    <p:cSldViewPr snapToGrid="0" snapToObjects="1">
      <p:cViewPr varScale="1">
        <p:scale>
          <a:sx n="93" d="100"/>
          <a:sy n="93" d="100"/>
        </p:scale>
        <p:origin x="216" y="7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728ED28-4F9C-4D43-9093-6BBDEE00AB37}" type="doc">
      <dgm:prSet loTypeId="urn:microsoft.com/office/officeart/2005/8/layout/hProcess3" loCatId="" qsTypeId="urn:microsoft.com/office/officeart/2005/8/quickstyle/simple4" qsCatId="simple" csTypeId="urn:microsoft.com/office/officeart/2005/8/colors/colorful5" csCatId="colorful" phldr="1"/>
      <dgm:spPr/>
    </dgm:pt>
    <dgm:pt modelId="{256BAAEA-622E-F348-9AE8-EDA4B6E2C700}" type="pres">
      <dgm:prSet presAssocID="{C728ED28-4F9C-4D43-9093-6BBDEE00AB37}" presName="Name0" presStyleCnt="0">
        <dgm:presLayoutVars>
          <dgm:dir/>
          <dgm:animLvl val="lvl"/>
          <dgm:resizeHandles val="exact"/>
        </dgm:presLayoutVars>
      </dgm:prSet>
      <dgm:spPr/>
    </dgm:pt>
    <dgm:pt modelId="{83120D37-84B0-894E-95E4-C5190C542BC3}" type="pres">
      <dgm:prSet presAssocID="{C728ED28-4F9C-4D43-9093-6BBDEE00AB37}" presName="dummy" presStyleCnt="0"/>
      <dgm:spPr/>
    </dgm:pt>
    <dgm:pt modelId="{50902498-BCB2-9B4A-B065-3D459811D42D}" type="pres">
      <dgm:prSet presAssocID="{C728ED28-4F9C-4D43-9093-6BBDEE00AB37}" presName="linH" presStyleCnt="0"/>
      <dgm:spPr/>
    </dgm:pt>
    <dgm:pt modelId="{2B7471A1-D055-5443-95FF-6DAD4E04500A}" type="pres">
      <dgm:prSet presAssocID="{C728ED28-4F9C-4D43-9093-6BBDEE00AB37}" presName="padding1" presStyleCnt="0"/>
      <dgm:spPr/>
    </dgm:pt>
    <dgm:pt modelId="{FC4E5430-65D0-8E42-B83E-245ED34E9776}" type="pres">
      <dgm:prSet presAssocID="{C728ED28-4F9C-4D43-9093-6BBDEE00AB37}" presName="padding2" presStyleCnt="0"/>
      <dgm:spPr/>
    </dgm:pt>
    <dgm:pt modelId="{2FB16A22-C122-E64C-8989-6427F717E7B3}" type="pres">
      <dgm:prSet presAssocID="{C728ED28-4F9C-4D43-9093-6BBDEE00AB37}" presName="negArrow" presStyleCnt="0"/>
      <dgm:spPr/>
    </dgm:pt>
    <dgm:pt modelId="{B7807E6A-DF2C-6D4C-A592-7E19A61384D3}" type="pres">
      <dgm:prSet presAssocID="{C728ED28-4F9C-4D43-9093-6BBDEE00AB37}" presName="backgroundArrow" presStyleLbl="node1" presStyleIdx="0" presStyleCnt="1" custScaleX="16922" custScaleY="15295" custLinFactNeighborX="29294" custLinFactNeighborY="0"/>
      <dgm:spPr/>
    </dgm:pt>
  </dgm:ptLst>
  <dgm:cxnLst>
    <dgm:cxn modelId="{330CA81D-6760-B248-BB80-0DC0F1C386FF}" type="presOf" srcId="{C728ED28-4F9C-4D43-9093-6BBDEE00AB37}" destId="{256BAAEA-622E-F348-9AE8-EDA4B6E2C700}" srcOrd="0" destOrd="0" presId="urn:microsoft.com/office/officeart/2005/8/layout/hProcess3"/>
    <dgm:cxn modelId="{DDC0D766-EF0D-D542-8909-D3F81CB4A0D8}" type="presParOf" srcId="{256BAAEA-622E-F348-9AE8-EDA4B6E2C700}" destId="{83120D37-84B0-894E-95E4-C5190C542BC3}" srcOrd="0" destOrd="0" presId="urn:microsoft.com/office/officeart/2005/8/layout/hProcess3"/>
    <dgm:cxn modelId="{489599DF-ECED-6F40-A1B2-7FA2DFD8171C}" type="presParOf" srcId="{256BAAEA-622E-F348-9AE8-EDA4B6E2C700}" destId="{50902498-BCB2-9B4A-B065-3D459811D42D}" srcOrd="1" destOrd="0" presId="urn:microsoft.com/office/officeart/2005/8/layout/hProcess3"/>
    <dgm:cxn modelId="{FBE060AB-385F-F048-BAE0-A528FA4DEA0B}" type="presParOf" srcId="{50902498-BCB2-9B4A-B065-3D459811D42D}" destId="{2B7471A1-D055-5443-95FF-6DAD4E04500A}" srcOrd="0" destOrd="0" presId="urn:microsoft.com/office/officeart/2005/8/layout/hProcess3"/>
    <dgm:cxn modelId="{9CCB67E1-304D-4E49-9309-EB5C5910D315}" type="presParOf" srcId="{50902498-BCB2-9B4A-B065-3D459811D42D}" destId="{FC4E5430-65D0-8E42-B83E-245ED34E9776}" srcOrd="1" destOrd="0" presId="urn:microsoft.com/office/officeart/2005/8/layout/hProcess3"/>
    <dgm:cxn modelId="{ABCCCFA2-64C4-0947-ADE9-B45B1139E4C4}" type="presParOf" srcId="{50902498-BCB2-9B4A-B065-3D459811D42D}" destId="{2FB16A22-C122-E64C-8989-6427F717E7B3}" srcOrd="2" destOrd="0" presId="urn:microsoft.com/office/officeart/2005/8/layout/hProcess3"/>
    <dgm:cxn modelId="{FD2845C9-6ED1-5143-86C7-44650EF8493F}" type="presParOf" srcId="{50902498-BCB2-9B4A-B065-3D459811D42D}" destId="{B7807E6A-DF2C-6D4C-A592-7E19A61384D3}" srcOrd="3" destOrd="0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807E6A-DF2C-6D4C-A592-7E19A61384D3}">
      <dsp:nvSpPr>
        <dsp:cNvPr id="0" name=""/>
        <dsp:cNvSpPr/>
      </dsp:nvSpPr>
      <dsp:spPr>
        <a:xfrm>
          <a:off x="2386427" y="2351430"/>
          <a:ext cx="1378546" cy="715806"/>
        </a:xfrm>
        <a:prstGeom prst="rightArrow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81BC77-7C81-C140-B323-EB3547897374}" type="datetimeFigureOut">
              <a:rPr lang="en-US" smtClean="0"/>
              <a:t>3/18/21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2F7DA-9B1E-D247-AA9B-BD559AABE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70430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1037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2970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70491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8856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6353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32F7DA-9B1E-D247-AA9B-BD559AABE23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220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9DDB-40E6-E94B-A7B2-9761AADD6C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42E625-F985-BF42-8D44-5A75F23D08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C92E62-D581-044B-A643-E84649A0C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5EB3F1-B891-9C4C-B2CD-D01962AD7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155DD-07EA-4841-90AB-54D04200C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68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AF751-52EC-8240-BF9C-610944CB6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C8C4AE-B513-184E-92A9-221601667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C942C4-DBCE-7648-AEEA-53CA5A712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79B01-DB94-454F-8775-2A77786D4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7D94DA-A587-2147-98A5-02111C915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04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6D46-A968-224E-B63E-4F9ED8D9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B2DBF9-938F-F74D-BBA2-9654AE209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7340D-CC59-1943-A1DA-AD58C1F15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83C2F9-E650-2640-9CE4-124F02E5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59D04-DF2C-6C4F-AC3B-0E1CB0442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8938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328D6-5D78-6548-8912-B20E9A16E9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D81CC2-3AEB-CD4C-BDD5-07F69B0364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8A2260-5F99-A845-A9AD-5F99F2C769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11BFD-7D0F-D246-AB7F-82267CF5C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B3FCAE-F546-8142-89D9-C1B76AC13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9D7BB-25DE-1F43-A039-347980EB9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67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318D3-9345-9B4B-9F3C-B28921EEC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C5B16-6256-EE48-8184-15E1C29ED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E4E9DD-3652-574B-A6F4-4911931E96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1E31D9-7C70-1740-B927-B884AFCA78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7C9C49-9EC2-C641-968F-09ADF4CF92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EF6B2-93ED-7843-A608-52F217035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E967CAA-3325-D44C-A91C-01510C59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EBFDA5-4808-B04A-AC21-F0CC437C0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9492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81C27-DDF3-0A41-956C-871680F28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01373-FBCB-3648-835A-AE657BE54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625BA30-11A8-8A44-86FC-5B20B805C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9FB262-2862-2946-A4D2-FDE6E5AF8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73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B83D8E-BE2E-F04A-B5F7-B613A5943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61877E-E7E4-C54F-A71C-FEA8D063D2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7E226C-6B20-154A-B69D-01ACF58C1F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730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06033-FA79-5F47-930A-259908AE5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EB77-5A18-7345-BE40-AED8F457A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1A31C6-0FE6-5A4E-98C5-81B571809F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83C418-EC4A-6341-B7F9-FC33310A5E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C33EF4-FD83-3140-9437-4A6DE3516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B138C8-6867-4C46-B576-1A3CCEF2C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25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4529D-3A7B-E24D-8D9B-9D7731985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3ADD06-ED28-2145-97DD-0359821F055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B1E8FA-9ED8-084F-9730-AEF28B863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4EE00-3956-6E44-8F06-99FD0F267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4504-49B1-AD44-89CF-1AA4EA0AD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71BF58-3484-374C-9478-8D70C25A1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0537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EC943D-D7E5-EC4A-BFE6-10A365917C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FE04FB-932D-A144-8486-517348499B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36424-8785-DC41-B6C4-09D803D2BC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60B7B6-6144-E44A-97B9-210B9A69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FF63-B2FB-7A49-AB26-202296F85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3456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6E56C8-6E83-4A4C-A971-509C64F47E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636253-9F88-AB44-A7A2-B1635D739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51F12A-E4CC-E24E-BDA0-23F48422B9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AC16D-7DD1-5548-91F2-E577938185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7E35F7-2CAA-8544-90A2-895BDB67B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337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22BD4D-46E8-1A4D-A66D-91B092591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AA8FB-5722-934A-A26C-2E5CE5AB3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2FBA5-9FA8-4C43-9055-6345DA2723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45D1EB-DBA5-8843-A8B2-298556AFAA62}" type="datetimeFigureOut">
              <a:rPr lang="en-US" smtClean="0"/>
              <a:t>3/18/21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0EDF3-B31A-3C47-ABDC-20FF39A68F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37C301-6BD7-6040-B57F-A08DFCA45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46579B-D311-8E4F-8BEC-4CB447894E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8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ds@gmail.com" TargetMode="External"/><Relationship Id="rId5" Type="http://schemas.openxmlformats.org/officeDocument/2006/relationships/hyperlink" Target="mailto:dk@gmail.com" TargetMode="External"/><Relationship Id="rId4" Type="http://schemas.openxmlformats.org/officeDocument/2006/relationships/hyperlink" Target="mailto:sk@gmail.com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mailto:Sauraph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B27210-D0CA-4654-B3E3-9ABB4F178E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65968E-F63C-C749-A545-B9102A8ABAAC}"/>
              </a:ext>
            </a:extLst>
          </p:cNvPr>
          <p:cNvSpPr/>
          <p:nvPr/>
        </p:nvSpPr>
        <p:spPr>
          <a:xfrm>
            <a:off x="6746628" y="1783959"/>
            <a:ext cx="4645250" cy="288911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kern="120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Python RegEx</a:t>
            </a:r>
            <a:endParaRPr lang="en-US" sz="6000" b="0" kern="1200" cap="none" spc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6172782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70B66945-4967-4040-926D-DCA44313CD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24154" cy="685800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8471D25-48A2-4549-B652-493BD2812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382" y="1611518"/>
            <a:ext cx="4047843" cy="2266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168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A9970-B6C4-EC4E-A9E6-E3E3EB7B1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68" y="803325"/>
            <a:ext cx="5314536" cy="1325563"/>
          </a:xfrm>
        </p:spPr>
        <p:txBody>
          <a:bodyPr>
            <a:normAutofit/>
          </a:bodyPr>
          <a:lstStyle/>
          <a:p>
            <a:r>
              <a:rPr lang="en-US" sz="6000" dirty="0">
                <a:latin typeface="+mn-lt"/>
                <a:ea typeface="Apple Symbols" panose="02000000000000000000" pitchFamily="2" charset="-79"/>
                <a:cs typeface="Apple Symbols" panose="02000000000000000000" pitchFamily="2" charset="-79"/>
              </a:rPr>
              <a:t>Agenda</a:t>
            </a: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0D60ECE-8986-45DC-B7FE-EC7699B4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38829" cy="5840278"/>
          </a:xfrm>
          <a:custGeom>
            <a:avLst/>
            <a:gdLst>
              <a:gd name="connsiteX0" fmla="*/ 0 w 5438829"/>
              <a:gd name="connsiteY0" fmla="*/ 0 h 5840278"/>
              <a:gd name="connsiteX1" fmla="*/ 4466700 w 5438829"/>
              <a:gd name="connsiteY1" fmla="*/ 0 h 5840278"/>
              <a:gd name="connsiteX2" fmla="*/ 4652178 w 5438829"/>
              <a:gd name="connsiteY2" fmla="*/ 204077 h 5840278"/>
              <a:gd name="connsiteX3" fmla="*/ 5438829 w 5438829"/>
              <a:gd name="connsiteY3" fmla="*/ 2395363 h 5840278"/>
              <a:gd name="connsiteX4" fmla="*/ 1993914 w 5438829"/>
              <a:gd name="connsiteY4" fmla="*/ 5840278 h 5840278"/>
              <a:gd name="connsiteX5" fmla="*/ 67829 w 5438829"/>
              <a:gd name="connsiteY5" fmla="*/ 5251941 h 5840278"/>
              <a:gd name="connsiteX6" fmla="*/ 0 w 5438829"/>
              <a:gd name="connsiteY6" fmla="*/ 5201220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8829" h="5840278">
                <a:moveTo>
                  <a:pt x="0" y="0"/>
                </a:moveTo>
                <a:lnTo>
                  <a:pt x="4466700" y="0"/>
                </a:lnTo>
                <a:lnTo>
                  <a:pt x="4652178" y="204077"/>
                </a:lnTo>
                <a:cubicBezTo>
                  <a:pt x="5143616" y="799562"/>
                  <a:pt x="5438829" y="1562987"/>
                  <a:pt x="5438829" y="2395363"/>
                </a:cubicBezTo>
                <a:cubicBezTo>
                  <a:pt x="5438829" y="4297937"/>
                  <a:pt x="3896488" y="5840278"/>
                  <a:pt x="1993914" y="5840278"/>
                </a:cubicBezTo>
                <a:cubicBezTo>
                  <a:pt x="1280449" y="5840278"/>
                  <a:pt x="617641" y="5623387"/>
                  <a:pt x="67829" y="5251941"/>
                </a:cubicBezTo>
                <a:lnTo>
                  <a:pt x="0" y="520122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6964194-5878-40D2-8EC0-DDC58387F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69134" cy="5654940"/>
          </a:xfrm>
          <a:custGeom>
            <a:avLst/>
            <a:gdLst>
              <a:gd name="connsiteX0" fmla="*/ 0 w 5269134"/>
              <a:gd name="connsiteY0" fmla="*/ 0 h 5654940"/>
              <a:gd name="connsiteX1" fmla="*/ 4227767 w 5269134"/>
              <a:gd name="connsiteY1" fmla="*/ 0 h 5654940"/>
              <a:gd name="connsiteX2" fmla="*/ 4312042 w 5269134"/>
              <a:gd name="connsiteY2" fmla="*/ 76595 h 5654940"/>
              <a:gd name="connsiteX3" fmla="*/ 5269134 w 5269134"/>
              <a:gd name="connsiteY3" fmla="*/ 2387221 h 5654940"/>
              <a:gd name="connsiteX4" fmla="*/ 2001415 w 5269134"/>
              <a:gd name="connsiteY4" fmla="*/ 5654940 h 5654940"/>
              <a:gd name="connsiteX5" fmla="*/ 198928 w 5269134"/>
              <a:gd name="connsiteY5" fmla="*/ 5113274 h 5654940"/>
              <a:gd name="connsiteX6" fmla="*/ 0 w 5269134"/>
              <a:gd name="connsiteY6" fmla="*/ 4969563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9134" h="5654940">
                <a:moveTo>
                  <a:pt x="0" y="0"/>
                </a:moveTo>
                <a:lnTo>
                  <a:pt x="4227767" y="0"/>
                </a:lnTo>
                <a:lnTo>
                  <a:pt x="4312042" y="76595"/>
                </a:lnTo>
                <a:cubicBezTo>
                  <a:pt x="4903383" y="667936"/>
                  <a:pt x="5269134" y="1484866"/>
                  <a:pt x="5269134" y="2387221"/>
                </a:cubicBezTo>
                <a:cubicBezTo>
                  <a:pt x="5269134" y="4191932"/>
                  <a:pt x="3806126" y="5654940"/>
                  <a:pt x="2001415" y="5654940"/>
                </a:cubicBezTo>
                <a:cubicBezTo>
                  <a:pt x="1335223" y="5654940"/>
                  <a:pt x="715593" y="5455584"/>
                  <a:pt x="198928" y="5113274"/>
                </a:cubicBezTo>
                <a:lnTo>
                  <a:pt x="0" y="496956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phic 6" descr="Check List">
            <a:extLst>
              <a:ext uri="{FF2B5EF4-FFF2-40B4-BE49-F238E27FC236}">
                <a16:creationId xmlns:a16="http://schemas.microsoft.com/office/drawing/2014/main" id="{EA0B8B04-9930-4C45-9CAE-A450F24BBE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1733" y="543135"/>
            <a:ext cx="3835488" cy="383548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A022C8-E35C-D84F-827E-EEA220971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661" y="2546872"/>
            <a:ext cx="5314543" cy="3375920"/>
          </a:xfrm>
        </p:spPr>
        <p:txBody>
          <a:bodyPr anchor="t">
            <a:normAutofit/>
          </a:bodyPr>
          <a:lstStyle/>
          <a:p>
            <a:pPr>
              <a:buFont typeface="Wingdings" pitchFamily="2" charset="2"/>
              <a:buChar char="q"/>
            </a:pPr>
            <a:endParaRPr lang="en-US" sz="1800" dirty="0"/>
          </a:p>
          <a:p>
            <a:pPr>
              <a:buFont typeface="Wingdings" pitchFamily="2" charset="2"/>
              <a:buChar char="q"/>
            </a:pPr>
            <a:r>
              <a:rPr lang="en-US" sz="1800" dirty="0"/>
              <a:t>History about </a:t>
            </a:r>
            <a:r>
              <a:rPr lang="en-US" sz="1800" dirty="0" err="1"/>
              <a:t>RegEx</a:t>
            </a:r>
            <a:endParaRPr lang="en-US" sz="1800" dirty="0"/>
          </a:p>
          <a:p>
            <a:pPr>
              <a:buFont typeface="Wingdings" pitchFamily="2" charset="2"/>
              <a:buChar char="q"/>
            </a:pPr>
            <a:r>
              <a:rPr lang="en-US" sz="1800" dirty="0"/>
              <a:t>What are Regular Expressions?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Why we use Regular Expressions?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Basic Regular Expression operation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Email verification using Regular Expression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Phone Number verification using Regular expression</a:t>
            </a:r>
          </a:p>
          <a:p>
            <a:pPr>
              <a:buFont typeface="Wingdings" pitchFamily="2" charset="2"/>
              <a:buChar char="q"/>
            </a:pPr>
            <a:r>
              <a:rPr lang="en-US" sz="1800" dirty="0"/>
              <a:t>Web scraping using Regular Expression</a:t>
            </a:r>
          </a:p>
        </p:txBody>
      </p:sp>
    </p:spTree>
    <p:extLst>
      <p:ext uri="{BB962C8B-B14F-4D97-AF65-F5344CB8AC3E}">
        <p14:creationId xmlns:p14="http://schemas.microsoft.com/office/powerpoint/2010/main" val="621263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74397-ACAB-8F4E-B3BC-65FA8B144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3668" y="803325"/>
            <a:ext cx="5314536" cy="1325563"/>
          </a:xfrm>
        </p:spPr>
        <p:txBody>
          <a:bodyPr>
            <a:normAutofit/>
          </a:bodyPr>
          <a:lstStyle/>
          <a:p>
            <a:r>
              <a:rPr lang="en-US" dirty="0"/>
              <a:t>History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E0D60ECE-8986-45DC-B7FE-EC7699B466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5438829" cy="5840278"/>
          </a:xfrm>
          <a:custGeom>
            <a:avLst/>
            <a:gdLst>
              <a:gd name="connsiteX0" fmla="*/ 0 w 5438829"/>
              <a:gd name="connsiteY0" fmla="*/ 0 h 5840278"/>
              <a:gd name="connsiteX1" fmla="*/ 4466700 w 5438829"/>
              <a:gd name="connsiteY1" fmla="*/ 0 h 5840278"/>
              <a:gd name="connsiteX2" fmla="*/ 4652178 w 5438829"/>
              <a:gd name="connsiteY2" fmla="*/ 204077 h 5840278"/>
              <a:gd name="connsiteX3" fmla="*/ 5438829 w 5438829"/>
              <a:gd name="connsiteY3" fmla="*/ 2395363 h 5840278"/>
              <a:gd name="connsiteX4" fmla="*/ 1993914 w 5438829"/>
              <a:gd name="connsiteY4" fmla="*/ 5840278 h 5840278"/>
              <a:gd name="connsiteX5" fmla="*/ 67829 w 5438829"/>
              <a:gd name="connsiteY5" fmla="*/ 5251941 h 5840278"/>
              <a:gd name="connsiteX6" fmla="*/ 0 w 5438829"/>
              <a:gd name="connsiteY6" fmla="*/ 5201220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8829" h="5840278">
                <a:moveTo>
                  <a:pt x="0" y="0"/>
                </a:moveTo>
                <a:lnTo>
                  <a:pt x="4466700" y="0"/>
                </a:lnTo>
                <a:lnTo>
                  <a:pt x="4652178" y="204077"/>
                </a:lnTo>
                <a:cubicBezTo>
                  <a:pt x="5143616" y="799562"/>
                  <a:pt x="5438829" y="1562987"/>
                  <a:pt x="5438829" y="2395363"/>
                </a:cubicBezTo>
                <a:cubicBezTo>
                  <a:pt x="5438829" y="4297937"/>
                  <a:pt x="3896488" y="5840278"/>
                  <a:pt x="1993914" y="5840278"/>
                </a:cubicBezTo>
                <a:cubicBezTo>
                  <a:pt x="1280449" y="5840278"/>
                  <a:pt x="617641" y="5623387"/>
                  <a:pt x="67829" y="5251941"/>
                </a:cubicBezTo>
                <a:lnTo>
                  <a:pt x="0" y="520122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6964194-5878-40D2-8EC0-DDC58387F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69134" cy="5654940"/>
          </a:xfrm>
          <a:custGeom>
            <a:avLst/>
            <a:gdLst>
              <a:gd name="connsiteX0" fmla="*/ 0 w 5269134"/>
              <a:gd name="connsiteY0" fmla="*/ 0 h 5654940"/>
              <a:gd name="connsiteX1" fmla="*/ 4227767 w 5269134"/>
              <a:gd name="connsiteY1" fmla="*/ 0 h 5654940"/>
              <a:gd name="connsiteX2" fmla="*/ 4312042 w 5269134"/>
              <a:gd name="connsiteY2" fmla="*/ 76595 h 5654940"/>
              <a:gd name="connsiteX3" fmla="*/ 5269134 w 5269134"/>
              <a:gd name="connsiteY3" fmla="*/ 2387221 h 5654940"/>
              <a:gd name="connsiteX4" fmla="*/ 2001415 w 5269134"/>
              <a:gd name="connsiteY4" fmla="*/ 5654940 h 5654940"/>
              <a:gd name="connsiteX5" fmla="*/ 198928 w 5269134"/>
              <a:gd name="connsiteY5" fmla="*/ 5113274 h 5654940"/>
              <a:gd name="connsiteX6" fmla="*/ 0 w 5269134"/>
              <a:gd name="connsiteY6" fmla="*/ 4969563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69134" h="5654940">
                <a:moveTo>
                  <a:pt x="0" y="0"/>
                </a:moveTo>
                <a:lnTo>
                  <a:pt x="4227767" y="0"/>
                </a:lnTo>
                <a:lnTo>
                  <a:pt x="4312042" y="76595"/>
                </a:lnTo>
                <a:cubicBezTo>
                  <a:pt x="4903383" y="667936"/>
                  <a:pt x="5269134" y="1484866"/>
                  <a:pt x="5269134" y="2387221"/>
                </a:cubicBezTo>
                <a:cubicBezTo>
                  <a:pt x="5269134" y="4191932"/>
                  <a:pt x="3806126" y="5654940"/>
                  <a:pt x="2001415" y="5654940"/>
                </a:cubicBezTo>
                <a:cubicBezTo>
                  <a:pt x="1335223" y="5654940"/>
                  <a:pt x="715593" y="5455584"/>
                  <a:pt x="198928" y="5113274"/>
                </a:cubicBezTo>
                <a:lnTo>
                  <a:pt x="0" y="496956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55CD22F1-C884-2B47-B143-9228E8D3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633" y="292608"/>
            <a:ext cx="3069687" cy="4336542"/>
          </a:xfrm>
          <a:prstGeom prst="rect">
            <a:avLst/>
          </a:prstGeom>
        </p:spPr>
      </p:pic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3BEA0A9D-6C98-4DDB-879D-BFE01AD4E1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3667" y="2279017"/>
            <a:ext cx="5314543" cy="3775657"/>
          </a:xfrm>
        </p:spPr>
        <p:txBody>
          <a:bodyPr anchor="t">
            <a:normAutofit lnSpcReduction="10000"/>
          </a:bodyPr>
          <a:lstStyle/>
          <a:p>
            <a:r>
              <a:rPr lang="en-US" sz="1800" dirty="0"/>
              <a:t>Regular expression originated in 1951 found by the great  mathematician </a:t>
            </a:r>
            <a:r>
              <a:rPr lang="en-US" sz="1800" u="sng" dirty="0"/>
              <a:t>Stephen Cloe Kleene.</a:t>
            </a:r>
          </a:p>
          <a:p>
            <a:r>
              <a:rPr lang="en-US" sz="1800" dirty="0"/>
              <a:t>Popular use in 1968 in two ways:</a:t>
            </a:r>
          </a:p>
          <a:p>
            <a:pPr marL="0" indent="0">
              <a:buNone/>
            </a:pPr>
            <a:r>
              <a:rPr lang="en-US" sz="1800" dirty="0"/>
              <a:t>                      </a:t>
            </a:r>
            <a:r>
              <a:rPr lang="en-US" sz="1800" dirty="0" err="1"/>
              <a:t>i</a:t>
            </a:r>
            <a:r>
              <a:rPr lang="en-US" sz="1800" dirty="0"/>
              <a:t>) Pattern matching in a text editor</a:t>
            </a:r>
          </a:p>
          <a:p>
            <a:pPr marL="0" indent="0">
              <a:buNone/>
            </a:pPr>
            <a:r>
              <a:rPr lang="en-US" sz="1800" dirty="0"/>
              <a:t>                      ii) Lexical analysis in compiler</a:t>
            </a:r>
          </a:p>
          <a:p>
            <a:r>
              <a:rPr lang="en-US" sz="1800" dirty="0"/>
              <a:t>In 1980 the more complicated regex arose in PERL(Practical Extraction and Reporting Language).</a:t>
            </a:r>
          </a:p>
          <a:p>
            <a:r>
              <a:rPr lang="en-US" sz="1800" dirty="0"/>
              <a:t>Starting in 1997 , Philip Hazel developed regular expressions which was used in PHP and apache HTTP server.</a:t>
            </a:r>
          </a:p>
          <a:p>
            <a:r>
              <a:rPr lang="en-US" sz="1800" dirty="0"/>
              <a:t>Today regex is supported in programming languages, text processing program ,advanced text editor and some other programs.</a:t>
            </a:r>
          </a:p>
        </p:txBody>
      </p:sp>
    </p:spTree>
    <p:extLst>
      <p:ext uri="{BB962C8B-B14F-4D97-AF65-F5344CB8AC3E}">
        <p14:creationId xmlns:p14="http://schemas.microsoft.com/office/powerpoint/2010/main" val="9772256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712F72C-A267-0349-AB1A-21CB9396AC1C}"/>
              </a:ext>
            </a:extLst>
          </p:cNvPr>
          <p:cNvSpPr/>
          <p:nvPr/>
        </p:nvSpPr>
        <p:spPr>
          <a:xfrm>
            <a:off x="3290823" y="605135"/>
            <a:ext cx="5462586" cy="46166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cs typeface="Beirut" pitchFamily="2" charset="-78"/>
              </a:rPr>
              <a:t>Regular Expressions: 8 Different languages</a:t>
            </a:r>
          </a:p>
        </p:txBody>
      </p:sp>
      <p:sp>
        <p:nvSpPr>
          <p:cNvPr id="21" name="Alternate Process 20">
            <a:extLst>
              <a:ext uri="{FF2B5EF4-FFF2-40B4-BE49-F238E27FC236}">
                <a16:creationId xmlns:a16="http://schemas.microsoft.com/office/drawing/2014/main" id="{35D165B9-7AA4-D644-A6EA-8A684FFC46FC}"/>
              </a:ext>
            </a:extLst>
          </p:cNvPr>
          <p:cNvSpPr/>
          <p:nvPr/>
        </p:nvSpPr>
        <p:spPr>
          <a:xfrm>
            <a:off x="5015345" y="2733964"/>
            <a:ext cx="2050473" cy="77585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9DD34AB-BB1A-094F-8AB5-7355128194E7}"/>
              </a:ext>
            </a:extLst>
          </p:cNvPr>
          <p:cNvCxnSpPr>
            <a:cxnSpLocks/>
            <a:endCxn id="48" idx="2"/>
          </p:cNvCxnSpPr>
          <p:nvPr/>
        </p:nvCxnSpPr>
        <p:spPr>
          <a:xfrm flipH="1" flipV="1">
            <a:off x="6082146" y="1967345"/>
            <a:ext cx="13854" cy="7666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6B7375C-ACFD-884D-82D8-8D28F6B53C48}"/>
              </a:ext>
            </a:extLst>
          </p:cNvPr>
          <p:cNvCxnSpPr>
            <a:stCxn id="21" idx="2"/>
          </p:cNvCxnSpPr>
          <p:nvPr/>
        </p:nvCxnSpPr>
        <p:spPr>
          <a:xfrm flipH="1">
            <a:off x="6022116" y="3509818"/>
            <a:ext cx="18466" cy="7943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8DFFE9FB-3723-D543-A00A-5D1E8E1CBF14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7065818" y="3121891"/>
            <a:ext cx="729673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0C9E6666-90AF-AB48-A68D-8E176825F543}"/>
              </a:ext>
            </a:extLst>
          </p:cNvPr>
          <p:cNvCxnSpPr>
            <a:cxnSpLocks/>
          </p:cNvCxnSpPr>
          <p:nvPr/>
        </p:nvCxnSpPr>
        <p:spPr>
          <a:xfrm>
            <a:off x="7065818" y="3429000"/>
            <a:ext cx="508000" cy="50338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4929DEC1-ED88-7241-9A82-DDAE32D55E0A}"/>
              </a:ext>
            </a:extLst>
          </p:cNvPr>
          <p:cNvCxnSpPr>
            <a:stCxn id="21" idx="1"/>
          </p:cNvCxnSpPr>
          <p:nvPr/>
        </p:nvCxnSpPr>
        <p:spPr>
          <a:xfrm flipH="1" flipV="1">
            <a:off x="4202545" y="3118428"/>
            <a:ext cx="812800" cy="34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E89A9A84-4594-D74F-B9C5-AD556F46FC6D}"/>
              </a:ext>
            </a:extLst>
          </p:cNvPr>
          <p:cNvCxnSpPr/>
          <p:nvPr/>
        </p:nvCxnSpPr>
        <p:spPr>
          <a:xfrm flipH="1" flipV="1">
            <a:off x="4193309" y="2289015"/>
            <a:ext cx="822036" cy="4641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077F72D1-FCBE-0E49-890A-F70349252840}"/>
              </a:ext>
            </a:extLst>
          </p:cNvPr>
          <p:cNvCxnSpPr>
            <a:cxnSpLocks/>
          </p:cNvCxnSpPr>
          <p:nvPr/>
        </p:nvCxnSpPr>
        <p:spPr>
          <a:xfrm flipH="1">
            <a:off x="4318002" y="3509818"/>
            <a:ext cx="761273" cy="37984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842156B5-AB67-EF48-A159-7D3EC4954E7F}"/>
              </a:ext>
            </a:extLst>
          </p:cNvPr>
          <p:cNvCxnSpPr>
            <a:cxnSpLocks/>
            <a:endCxn id="49" idx="2"/>
          </p:cNvCxnSpPr>
          <p:nvPr/>
        </p:nvCxnSpPr>
        <p:spPr>
          <a:xfrm flipV="1">
            <a:off x="7065818" y="2308193"/>
            <a:ext cx="686886" cy="49966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1466004D-D220-F648-8675-996C86E93433}"/>
              </a:ext>
            </a:extLst>
          </p:cNvPr>
          <p:cNvSpPr/>
          <p:nvPr/>
        </p:nvSpPr>
        <p:spPr>
          <a:xfrm>
            <a:off x="5126183" y="2660226"/>
            <a:ext cx="18572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0" cap="none" spc="0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RegEx</a:t>
            </a:r>
            <a:endParaRPr lang="en-US" sz="5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B62665A1-1BEC-9E43-AD3A-4284C5B49CDA}"/>
              </a:ext>
            </a:extLst>
          </p:cNvPr>
          <p:cNvSpPr/>
          <p:nvPr/>
        </p:nvSpPr>
        <p:spPr>
          <a:xfrm>
            <a:off x="5514109" y="1542473"/>
            <a:ext cx="1136073" cy="4248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7338C93-3762-5946-9AD6-9A53586AA014}"/>
              </a:ext>
            </a:extLst>
          </p:cNvPr>
          <p:cNvSpPr/>
          <p:nvPr/>
        </p:nvSpPr>
        <p:spPr>
          <a:xfrm rot="2585292">
            <a:off x="7303408" y="1940622"/>
            <a:ext cx="1188825" cy="42486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2A12938-3261-4F46-B47F-4DFF585C359F}"/>
              </a:ext>
            </a:extLst>
          </p:cNvPr>
          <p:cNvSpPr/>
          <p:nvPr/>
        </p:nvSpPr>
        <p:spPr>
          <a:xfrm>
            <a:off x="7795491" y="2900219"/>
            <a:ext cx="1158437" cy="4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1B5843E2-BB24-A044-A055-BE260BD8CD16}"/>
              </a:ext>
            </a:extLst>
          </p:cNvPr>
          <p:cNvSpPr/>
          <p:nvPr/>
        </p:nvSpPr>
        <p:spPr>
          <a:xfrm>
            <a:off x="7301345" y="3932382"/>
            <a:ext cx="1308162" cy="4710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C5FE02F8-CBD6-0D45-BE36-408DCF2E647A}"/>
              </a:ext>
            </a:extLst>
          </p:cNvPr>
          <p:cNvSpPr/>
          <p:nvPr/>
        </p:nvSpPr>
        <p:spPr>
          <a:xfrm>
            <a:off x="5343236" y="4304145"/>
            <a:ext cx="1505527" cy="406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E7BCDF4-4D5F-4C41-BA76-61119EB319B5}"/>
              </a:ext>
            </a:extLst>
          </p:cNvPr>
          <p:cNvSpPr/>
          <p:nvPr/>
        </p:nvSpPr>
        <p:spPr>
          <a:xfrm>
            <a:off x="3373583" y="3927764"/>
            <a:ext cx="1339272" cy="4802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E8C0A6AD-9482-F54F-ACFE-A014DFB459FA}"/>
              </a:ext>
            </a:extLst>
          </p:cNvPr>
          <p:cNvSpPr/>
          <p:nvPr/>
        </p:nvSpPr>
        <p:spPr>
          <a:xfrm>
            <a:off x="2912215" y="2952174"/>
            <a:ext cx="1290330" cy="4364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764D7EEF-9AA1-5445-9AB2-4FE5969F9610}"/>
              </a:ext>
            </a:extLst>
          </p:cNvPr>
          <p:cNvSpPr/>
          <p:nvPr/>
        </p:nvSpPr>
        <p:spPr>
          <a:xfrm rot="19071776">
            <a:off x="3372019" y="1891901"/>
            <a:ext cx="1184585" cy="45168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A888BB0-C1DA-0640-8963-61B5CEB1D6F9}"/>
              </a:ext>
            </a:extLst>
          </p:cNvPr>
          <p:cNvSpPr/>
          <p:nvPr/>
        </p:nvSpPr>
        <p:spPr>
          <a:xfrm>
            <a:off x="5699864" y="1552899"/>
            <a:ext cx="77841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Python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4F9B3D92-02BF-5B4C-9D83-D7EFD1C0BFE8}"/>
              </a:ext>
            </a:extLst>
          </p:cNvPr>
          <p:cNvSpPr/>
          <p:nvPr/>
        </p:nvSpPr>
        <p:spPr>
          <a:xfrm rot="2587175">
            <a:off x="7627231" y="1943716"/>
            <a:ext cx="60362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Ruby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21F3840B-5D16-934B-9364-69C74F7DD641}"/>
              </a:ext>
            </a:extLst>
          </p:cNvPr>
          <p:cNvSpPr/>
          <p:nvPr/>
        </p:nvSpPr>
        <p:spPr>
          <a:xfrm>
            <a:off x="8050891" y="2914787"/>
            <a:ext cx="602922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Swift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B0B06BD-F864-D64E-B762-2D86582C028B}"/>
              </a:ext>
            </a:extLst>
          </p:cNvPr>
          <p:cNvSpPr/>
          <p:nvPr/>
        </p:nvSpPr>
        <p:spPr>
          <a:xfrm>
            <a:off x="7594756" y="3967019"/>
            <a:ext cx="60612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Scala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8592F78-C1F9-8944-AC8A-75587E75EBC1}"/>
              </a:ext>
            </a:extLst>
          </p:cNvPr>
          <p:cNvSpPr/>
          <p:nvPr/>
        </p:nvSpPr>
        <p:spPr>
          <a:xfrm>
            <a:off x="5661007" y="4338068"/>
            <a:ext cx="78758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Groovy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CB566813-EE90-F94D-BA10-8098FFC0EC63}"/>
              </a:ext>
            </a:extLst>
          </p:cNvPr>
          <p:cNvSpPr/>
          <p:nvPr/>
        </p:nvSpPr>
        <p:spPr>
          <a:xfrm>
            <a:off x="3896382" y="4007560"/>
            <a:ext cx="293671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9BCF7F85-B3B5-CF4F-ACF0-1A21C7A30E2A}"/>
              </a:ext>
            </a:extLst>
          </p:cNvPr>
          <p:cNvSpPr/>
          <p:nvPr/>
        </p:nvSpPr>
        <p:spPr>
          <a:xfrm>
            <a:off x="3332684" y="3003857"/>
            <a:ext cx="524503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PHP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A745DA69-49DB-9945-B2B0-0B5B51CAE0C9}"/>
              </a:ext>
            </a:extLst>
          </p:cNvPr>
          <p:cNvSpPr/>
          <p:nvPr/>
        </p:nvSpPr>
        <p:spPr>
          <a:xfrm rot="18948587">
            <a:off x="3691778" y="1923239"/>
            <a:ext cx="53251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Java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546016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62850-E929-0644-AFF0-20A6B1D6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147" y="401619"/>
            <a:ext cx="7569706" cy="1288238"/>
          </a:xfrm>
        </p:spPr>
        <p:txBody>
          <a:bodyPr anchor="ctr">
            <a:normAutofit/>
          </a:bodyPr>
          <a:lstStyle/>
          <a:p>
            <a:pPr algn="ctr"/>
            <a:r>
              <a:rPr lang="en-US" sz="4100" dirty="0"/>
              <a:t>What are Regular Expressions?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292649-A681-694E-B099-6DCA8732A90B}"/>
              </a:ext>
            </a:extLst>
          </p:cNvPr>
          <p:cNvSpPr txBox="1"/>
          <p:nvPr/>
        </p:nvSpPr>
        <p:spPr>
          <a:xfrm>
            <a:off x="2807700" y="2528047"/>
            <a:ext cx="69117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regular expression is basically used for describing a search pattern.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can use regular expressions :</a:t>
            </a:r>
          </a:p>
          <a:p>
            <a:r>
              <a:rPr lang="en-US" dirty="0"/>
              <a:t>                  </a:t>
            </a:r>
            <a:r>
              <a:rPr lang="en-US" sz="1600" dirty="0" err="1"/>
              <a:t>i</a:t>
            </a:r>
            <a:r>
              <a:rPr lang="en-US" sz="1600" dirty="0"/>
              <a:t>)Search a specific string in a large amount of data.</a:t>
            </a:r>
          </a:p>
          <a:p>
            <a:r>
              <a:rPr lang="en-US" sz="1600" dirty="0"/>
              <a:t>                    ii)You can verify that a string has a proper format or not.</a:t>
            </a:r>
          </a:p>
          <a:p>
            <a:r>
              <a:rPr lang="en-US" sz="1600" dirty="0"/>
              <a:t>                    iii)You can find a string and replace with another string.</a:t>
            </a:r>
          </a:p>
          <a:p>
            <a:r>
              <a:rPr lang="en-US" sz="1600" dirty="0"/>
              <a:t>                    iv)You can format the data into proper form for importing.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Python has a built-in package called </a:t>
            </a:r>
            <a:r>
              <a:rPr lang="en-US" sz="1600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 </a:t>
            </a:r>
            <a:r>
              <a:rPr lang="en-US" sz="1600" dirty="0"/>
              <a:t>, which can be used to access Regular Expressions.</a:t>
            </a:r>
          </a:p>
        </p:txBody>
      </p:sp>
    </p:spTree>
    <p:extLst>
      <p:ext uri="{BB962C8B-B14F-4D97-AF65-F5344CB8AC3E}">
        <p14:creationId xmlns:p14="http://schemas.microsoft.com/office/powerpoint/2010/main" val="4031937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7F62850-E929-0644-AFF0-20A6B1D6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1147" y="365760"/>
            <a:ext cx="7569706" cy="1288238"/>
          </a:xfrm>
        </p:spPr>
        <p:txBody>
          <a:bodyPr anchor="ctr">
            <a:normAutofit/>
          </a:bodyPr>
          <a:lstStyle/>
          <a:p>
            <a:pPr algn="ctr"/>
            <a:r>
              <a:rPr lang="en-US" sz="4100" dirty="0"/>
              <a:t>Why We Use Regular Expressions?</a:t>
            </a:r>
          </a:p>
        </p:txBody>
      </p:sp>
      <p:pic>
        <p:nvPicPr>
          <p:cNvPr id="5" name="Content Placeholder 4" descr="A picture containing text&#10;&#10;Description automatically generated">
            <a:extLst>
              <a:ext uri="{FF2B5EF4-FFF2-40B4-BE49-F238E27FC236}">
                <a16:creationId xmlns:a16="http://schemas.microsoft.com/office/drawing/2014/main" id="{77F64FBD-8135-8747-96CD-6D9EF1F1D1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9433" r="10197" b="8375"/>
          <a:stretch/>
        </p:blipFill>
        <p:spPr>
          <a:xfrm>
            <a:off x="2087418" y="2019758"/>
            <a:ext cx="1930400" cy="2711252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952B21-0D82-6F46-8329-B8B2FE7B3B77}"/>
              </a:ext>
            </a:extLst>
          </p:cNvPr>
          <p:cNvSpPr/>
          <p:nvPr/>
        </p:nvSpPr>
        <p:spPr>
          <a:xfrm>
            <a:off x="3052618" y="2173008"/>
            <a:ext cx="881973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9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find </a:t>
            </a:r>
          </a:p>
          <a:p>
            <a:pPr algn="ctr"/>
            <a:r>
              <a:rPr lang="en-US" sz="9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the date and</a:t>
            </a:r>
          </a:p>
          <a:p>
            <a:pPr algn="ctr"/>
            <a:r>
              <a:rPr lang="en-US" sz="9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Time from the </a:t>
            </a:r>
          </a:p>
          <a:p>
            <a:pPr algn="ctr"/>
            <a:r>
              <a:rPr lang="en-US" sz="9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Log file?</a:t>
            </a:r>
            <a:endParaRPr lang="en-US" sz="9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9485748B-68A1-F246-935C-8FEC6A065546}"/>
              </a:ext>
            </a:extLst>
          </p:cNvPr>
          <p:cNvGraphicFramePr/>
          <p:nvPr/>
        </p:nvGraphicFramePr>
        <p:xfrm>
          <a:off x="2013527" y="719666"/>
          <a:ext cx="8146473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405F5F44-48F1-AF41-8478-C1BF8124D03A}"/>
              </a:ext>
            </a:extLst>
          </p:cNvPr>
          <p:cNvSpPr/>
          <p:nvPr/>
        </p:nvSpPr>
        <p:spPr>
          <a:xfrm>
            <a:off x="5475269" y="2067012"/>
            <a:ext cx="2913244" cy="332398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Jul 1 03:27:12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Syslog:</a:t>
            </a:r>
          </a:p>
          <a:p>
            <a:pPr algn="ctr"/>
            <a:r>
              <a:rPr lang="en-US" sz="1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[m-JAVA][</a:t>
            </a:r>
          </a:p>
          <a:p>
            <a:pPr algn="ctr"/>
            <a:r>
              <a:rPr lang="en-US" sz="1400" i="1" dirty="0">
                <a:ln w="0"/>
                <a:solidFill>
                  <a:schemeClr val="accent4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1/JUL/2013</a:t>
            </a:r>
          </a:p>
          <a:p>
            <a:pPr algn="ctr"/>
            <a:r>
              <a:rPr lang="en-US" sz="1400" b="0" i="1" cap="none" spc="0" dirty="0">
                <a:ln w="0"/>
                <a:solidFill>
                  <a:schemeClr val="accent4">
                    <a:lumMod val="60000"/>
                    <a:lumOff val="40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03:27:12.818</a:t>
            </a:r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][j: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[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SessionThread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&lt;]^</a:t>
            </a:r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lat</a:t>
            </a:r>
            <a:endParaRPr lang="en-US" sz="1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Com/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avc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/m</a:t>
            </a:r>
          </a:p>
          <a:p>
            <a:pPr algn="ctr"/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Agr</a:t>
            </a:r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/service/find</a:t>
            </a:r>
          </a:p>
          <a:p>
            <a:pPr algn="ctr"/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.something(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</a:t>
            </a:r>
            <a:endParaRPr lang="en-US" sz="14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/1235/locator/a</a:t>
            </a:r>
          </a:p>
          <a:p>
            <a:pPr algn="ctr"/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bc;Ljava</a:t>
            </a:r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/lang/S</a:t>
            </a:r>
          </a:p>
          <a:p>
            <a:pPr algn="ctr"/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tring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;)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Labc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US" sz="14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</a:p>
          <a:p>
            <a:pPr algn="ctr"/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Abcd</a:t>
            </a:r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/</a:t>
            </a:r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abcd</a:t>
            </a:r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;(</a:t>
            </a:r>
            <a:r>
              <a:rPr lang="en-US" sz="1400" b="0" cap="none" spc="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byt</a:t>
            </a:r>
            <a:endParaRPr lang="en-US" sz="1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400" b="0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ecode</a:t>
            </a:r>
            <a:r>
              <a:rPr lang="en-US" sz="1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:7)</a:t>
            </a:r>
            <a:endParaRPr lang="en-US" sz="1400" b="0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CB373BDE-D650-E94D-A8BB-BE7B1B6A057D}"/>
              </a:ext>
            </a:extLst>
          </p:cNvPr>
          <p:cNvCxnSpPr/>
          <p:nvPr/>
        </p:nvCxnSpPr>
        <p:spPr>
          <a:xfrm>
            <a:off x="7333672" y="2909454"/>
            <a:ext cx="8959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542E583A-CFC6-4845-AE4E-ED61220B01D8}"/>
              </a:ext>
            </a:extLst>
          </p:cNvPr>
          <p:cNvSpPr/>
          <p:nvPr/>
        </p:nvSpPr>
        <p:spPr>
          <a:xfrm flipH="1">
            <a:off x="8047403" y="2786343"/>
            <a:ext cx="1267296" cy="24622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1000" b="0" cap="none" spc="0" dirty="0">
                <a:ln w="0"/>
                <a:solidFill>
                  <a:schemeClr val="accent2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Date and Time</a:t>
            </a:r>
          </a:p>
        </p:txBody>
      </p:sp>
      <p:sp>
        <p:nvSpPr>
          <p:cNvPr id="17" name="Alternate Process 16">
            <a:extLst>
              <a:ext uri="{FF2B5EF4-FFF2-40B4-BE49-F238E27FC236}">
                <a16:creationId xmlns:a16="http://schemas.microsoft.com/office/drawing/2014/main" id="{D6C80A0C-F0AE-204A-83EF-4E63341EFAA8}"/>
              </a:ext>
            </a:extLst>
          </p:cNvPr>
          <p:cNvSpPr/>
          <p:nvPr/>
        </p:nvSpPr>
        <p:spPr>
          <a:xfrm>
            <a:off x="6160656" y="2007904"/>
            <a:ext cx="1495160" cy="3465516"/>
          </a:xfrm>
          <a:prstGeom prst="flowChartAlternateProcess">
            <a:avLst/>
          </a:prstGeom>
          <a:noFill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1139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 descr="A picture containing text&#10;&#10;Description automatically generated">
            <a:extLst>
              <a:ext uri="{FF2B5EF4-FFF2-40B4-BE49-F238E27FC236}">
                <a16:creationId xmlns:a16="http://schemas.microsoft.com/office/drawing/2014/main" id="{E69AA403-E7E6-4841-92E4-E0BAF5A7F4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3064" r="11280" b="11373"/>
          <a:stretch/>
        </p:blipFill>
        <p:spPr>
          <a:xfrm>
            <a:off x="8118763" y="1473215"/>
            <a:ext cx="1893455" cy="275704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4F79652-BABA-9341-97ED-E1CA89B9B3F8}"/>
              </a:ext>
            </a:extLst>
          </p:cNvPr>
          <p:cNvSpPr/>
          <p:nvPr/>
        </p:nvSpPr>
        <p:spPr>
          <a:xfrm>
            <a:off x="9065490" y="1609589"/>
            <a:ext cx="793807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How to </a:t>
            </a:r>
          </a:p>
          <a:p>
            <a:pPr algn="ctr"/>
            <a:r>
              <a:rPr lang="en-US" sz="1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verify these</a:t>
            </a:r>
          </a:p>
          <a:p>
            <a:pPr algn="ctr"/>
            <a:r>
              <a:rPr lang="en-US" sz="10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e-mail</a:t>
            </a:r>
          </a:p>
          <a:p>
            <a:pPr algn="ctr"/>
            <a:r>
              <a:rPr lang="en-US" sz="10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B6FEEF1-4EF7-3040-8B8F-EE1042A1EAF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1551" b="88961"/>
          <a:stretch/>
        </p:blipFill>
        <p:spPr>
          <a:xfrm>
            <a:off x="2576945" y="1609589"/>
            <a:ext cx="4614718" cy="61825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275B3BC9-F002-ED48-B183-0AD9915CFD83}"/>
              </a:ext>
            </a:extLst>
          </p:cNvPr>
          <p:cNvSpPr/>
          <p:nvPr/>
        </p:nvSpPr>
        <p:spPr>
          <a:xfrm>
            <a:off x="3817872" y="3837437"/>
            <a:ext cx="1743874" cy="16312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Sc #.com</a:t>
            </a:r>
            <a:endParaRPr lang="en-US" sz="2000" b="0" u="sng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000" b="0" u="sng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sk@gmail.com</a:t>
            </a:r>
            <a:endParaRPr lang="en-US" sz="20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sz="2000" u="sng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dk@gmail.com</a:t>
            </a:r>
            <a:endParaRPr lang="en-US" sz="2000" u="sng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b="0" u="sng" cap="none" spc="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ds@gmail.com</a:t>
            </a:r>
            <a:endParaRPr lang="en-US" sz="2000" b="0" u="sng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2000" u="sng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cf@gmail.com</a:t>
            </a:r>
            <a:endParaRPr lang="en-US" sz="2000" b="0" u="sng" cap="none" spc="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Down Arrow 11">
            <a:extLst>
              <a:ext uri="{FF2B5EF4-FFF2-40B4-BE49-F238E27FC236}">
                <a16:creationId xmlns:a16="http://schemas.microsoft.com/office/drawing/2014/main" id="{50E99C61-F463-B34B-9D61-B646923AA678}"/>
              </a:ext>
            </a:extLst>
          </p:cNvPr>
          <p:cNvSpPr/>
          <p:nvPr/>
        </p:nvSpPr>
        <p:spPr>
          <a:xfrm>
            <a:off x="4572000" y="2317475"/>
            <a:ext cx="312304" cy="979907"/>
          </a:xfrm>
          <a:prstGeom prst="downArrow">
            <a:avLst/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05675C61-C794-0B47-8B3A-EE767D37A599}"/>
              </a:ext>
            </a:extLst>
          </p:cNvPr>
          <p:cNvSpPr/>
          <p:nvPr/>
        </p:nvSpPr>
        <p:spPr>
          <a:xfrm>
            <a:off x="3689060" y="3429000"/>
            <a:ext cx="1893455" cy="2565400"/>
          </a:xfrm>
          <a:prstGeom prst="flowChartAlternateProcess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985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Alternate Process 1">
            <a:extLst>
              <a:ext uri="{FF2B5EF4-FFF2-40B4-BE49-F238E27FC236}">
                <a16:creationId xmlns:a16="http://schemas.microsoft.com/office/drawing/2014/main" id="{48436BBF-DFB5-BD45-8741-C6BBFF0D5A4C}"/>
              </a:ext>
            </a:extLst>
          </p:cNvPr>
          <p:cNvSpPr/>
          <p:nvPr/>
        </p:nvSpPr>
        <p:spPr>
          <a:xfrm>
            <a:off x="2817091" y="1422400"/>
            <a:ext cx="1976582" cy="3648364"/>
          </a:xfrm>
          <a:prstGeom prst="flowChartAlternate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8C4025-7572-4045-93CF-5544295F78DD}"/>
              </a:ext>
            </a:extLst>
          </p:cNvPr>
          <p:cNvSpPr/>
          <p:nvPr/>
        </p:nvSpPr>
        <p:spPr>
          <a:xfrm>
            <a:off x="2817091" y="1599977"/>
            <a:ext cx="1978298" cy="329320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Student Database: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Name: Kate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Age:32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Address:F-127,Starc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Tower, </a:t>
            </a:r>
            <a:r>
              <a:rPr lang="en-US" sz="1600" b="0" cap="none" spc="0" dirty="0" err="1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Newyork</a:t>
            </a:r>
            <a:endParaRPr lang="en-US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endParaRPr lang="en-US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Name: Neel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Age:65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Address:d-2,Newyork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………………………………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………………………………</a:t>
            </a:r>
            <a:endParaRPr lang="en-US" sz="160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22645558-910D-8744-BBB4-4382FB44FB49}"/>
              </a:ext>
            </a:extLst>
          </p:cNvPr>
          <p:cNvSpPr/>
          <p:nvPr/>
        </p:nvSpPr>
        <p:spPr>
          <a:xfrm>
            <a:off x="5049073" y="2826327"/>
            <a:ext cx="723654" cy="397164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FEED3BE8-F858-2643-91FE-56197AF1F3E3}"/>
              </a:ext>
            </a:extLst>
          </p:cNvPr>
          <p:cNvSpPr/>
          <p:nvPr/>
        </p:nvSpPr>
        <p:spPr>
          <a:xfrm>
            <a:off x="6026411" y="2115127"/>
            <a:ext cx="1136072" cy="1819564"/>
          </a:xfrm>
          <a:prstGeom prst="flowChartAlternateProcess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EB52E1-E187-8449-8816-755A2045117F}"/>
              </a:ext>
            </a:extLst>
          </p:cNvPr>
          <p:cNvSpPr/>
          <p:nvPr/>
        </p:nvSpPr>
        <p:spPr>
          <a:xfrm>
            <a:off x="6228295" y="2365031"/>
            <a:ext cx="705642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59006</a:t>
            </a:r>
          </a:p>
          <a:p>
            <a:pPr algn="ctr"/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ight Arrow 14">
            <a:extLst>
              <a:ext uri="{FF2B5EF4-FFF2-40B4-BE49-F238E27FC236}">
                <a16:creationId xmlns:a16="http://schemas.microsoft.com/office/drawing/2014/main" id="{28AFDFB4-F734-6447-BE40-6B256BD1F177}"/>
              </a:ext>
            </a:extLst>
          </p:cNvPr>
          <p:cNvSpPr/>
          <p:nvPr/>
        </p:nvSpPr>
        <p:spPr>
          <a:xfrm>
            <a:off x="7364366" y="2819400"/>
            <a:ext cx="772869" cy="404091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lternate Process 15">
            <a:extLst>
              <a:ext uri="{FF2B5EF4-FFF2-40B4-BE49-F238E27FC236}">
                <a16:creationId xmlns:a16="http://schemas.microsoft.com/office/drawing/2014/main" id="{031B339E-E466-4E40-A751-ED45E85A1FE8}"/>
              </a:ext>
            </a:extLst>
          </p:cNvPr>
          <p:cNvSpPr/>
          <p:nvPr/>
        </p:nvSpPr>
        <p:spPr>
          <a:xfrm>
            <a:off x="8645236" y="2179782"/>
            <a:ext cx="1108364" cy="1754909"/>
          </a:xfrm>
          <a:prstGeom prst="flowChartAlternateProcess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6D005CA-5BC1-E44C-A785-E23B6CA0AA5F}"/>
              </a:ext>
            </a:extLst>
          </p:cNvPr>
          <p:cNvSpPr/>
          <p:nvPr/>
        </p:nvSpPr>
        <p:spPr>
          <a:xfrm>
            <a:off x="8846597" y="2395516"/>
            <a:ext cx="705642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59076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59076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59076</a:t>
            </a:r>
          </a:p>
          <a:p>
            <a:pPr algn="ctr"/>
            <a:r>
              <a:rPr lang="en-US" sz="16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59076</a:t>
            </a:r>
          </a:p>
          <a:p>
            <a:pPr algn="ctr"/>
            <a:r>
              <a:rPr lang="en-US" sz="1600" b="0" cap="none" spc="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59076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069EF24-B23E-B74E-9737-4E681F641A17}"/>
              </a:ext>
            </a:extLst>
          </p:cNvPr>
          <p:cNvSpPr txBox="1"/>
          <p:nvPr/>
        </p:nvSpPr>
        <p:spPr>
          <a:xfrm>
            <a:off x="5803422" y="4149850"/>
            <a:ext cx="182708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Find a particular string from student data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4153075-10BF-9244-AEE7-160715CA4220}"/>
              </a:ext>
            </a:extLst>
          </p:cNvPr>
          <p:cNvSpPr txBox="1"/>
          <p:nvPr/>
        </p:nvSpPr>
        <p:spPr>
          <a:xfrm>
            <a:off x="8645236" y="1524000"/>
            <a:ext cx="11083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Replace the string</a:t>
            </a:r>
          </a:p>
        </p:txBody>
      </p:sp>
    </p:spTree>
    <p:extLst>
      <p:ext uri="{BB962C8B-B14F-4D97-AF65-F5344CB8AC3E}">
        <p14:creationId xmlns:p14="http://schemas.microsoft.com/office/powerpoint/2010/main" val="37200156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60C7418-02AA-914F-B79C-CA7A3D23965F}"/>
              </a:ext>
            </a:extLst>
          </p:cNvPr>
          <p:cNvSpPr/>
          <p:nvPr/>
        </p:nvSpPr>
        <p:spPr>
          <a:xfrm>
            <a:off x="2857197" y="161381"/>
            <a:ext cx="6477606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REGULAR EXPRESSION</a:t>
            </a:r>
          </a:p>
          <a:p>
            <a:pPr algn="ctr"/>
            <a:r>
              <a:rPr lang="en-U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OPERATIONS</a:t>
            </a:r>
          </a:p>
        </p:txBody>
      </p:sp>
      <p:sp>
        <p:nvSpPr>
          <p:cNvPr id="3" name="Alternate Process 2">
            <a:extLst>
              <a:ext uri="{FF2B5EF4-FFF2-40B4-BE49-F238E27FC236}">
                <a16:creationId xmlns:a16="http://schemas.microsoft.com/office/drawing/2014/main" id="{C9EF2D1E-8567-7046-B182-3A9344CCF797}"/>
              </a:ext>
            </a:extLst>
          </p:cNvPr>
          <p:cNvSpPr/>
          <p:nvPr/>
        </p:nvSpPr>
        <p:spPr>
          <a:xfrm>
            <a:off x="4204448" y="1868270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C76D1391-8614-CD43-8B88-16FF1FD9589F}"/>
              </a:ext>
            </a:extLst>
          </p:cNvPr>
          <p:cNvSpPr/>
          <p:nvPr/>
        </p:nvSpPr>
        <p:spPr>
          <a:xfrm>
            <a:off x="4204447" y="2653117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941CA9E4-C935-0C44-B53F-AF7F774D7811}"/>
              </a:ext>
            </a:extLst>
          </p:cNvPr>
          <p:cNvSpPr/>
          <p:nvPr/>
        </p:nvSpPr>
        <p:spPr>
          <a:xfrm>
            <a:off x="4204446" y="3446928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CE2225B-423A-3442-8531-6CF9F611A56B}"/>
              </a:ext>
            </a:extLst>
          </p:cNvPr>
          <p:cNvSpPr/>
          <p:nvPr/>
        </p:nvSpPr>
        <p:spPr>
          <a:xfrm>
            <a:off x="4258233" y="4240739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DA2258B5-26E1-1741-A201-ADD2C7C1819A}"/>
              </a:ext>
            </a:extLst>
          </p:cNvPr>
          <p:cNvSpPr/>
          <p:nvPr/>
        </p:nvSpPr>
        <p:spPr>
          <a:xfrm>
            <a:off x="4258233" y="5025586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lternate Process 11">
            <a:extLst>
              <a:ext uri="{FF2B5EF4-FFF2-40B4-BE49-F238E27FC236}">
                <a16:creationId xmlns:a16="http://schemas.microsoft.com/office/drawing/2014/main" id="{ED9B8752-B7AF-1644-899D-A6A656557553}"/>
              </a:ext>
            </a:extLst>
          </p:cNvPr>
          <p:cNvSpPr/>
          <p:nvPr/>
        </p:nvSpPr>
        <p:spPr>
          <a:xfrm>
            <a:off x="4258232" y="5941793"/>
            <a:ext cx="3316941" cy="546847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C7CCBD7-9035-0643-8363-11D296A6CE33}"/>
              </a:ext>
            </a:extLst>
          </p:cNvPr>
          <p:cNvSpPr/>
          <p:nvPr/>
        </p:nvSpPr>
        <p:spPr>
          <a:xfrm>
            <a:off x="4905367" y="1984430"/>
            <a:ext cx="2022670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Find a word in a string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63220E-B963-3347-9CDA-1D1B11B31CE4}"/>
              </a:ext>
            </a:extLst>
          </p:cNvPr>
          <p:cNvSpPr/>
          <p:nvPr/>
        </p:nvSpPr>
        <p:spPr>
          <a:xfrm>
            <a:off x="4973687" y="2736152"/>
            <a:ext cx="188602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Generate an iterator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0D21F19-C6BA-374D-A975-4F2BC5338548}"/>
              </a:ext>
            </a:extLst>
          </p:cNvPr>
          <p:cNvSpPr/>
          <p:nvPr/>
        </p:nvSpPr>
        <p:spPr>
          <a:xfrm>
            <a:off x="4381409" y="3540884"/>
            <a:ext cx="307058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Match one of any of several letters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55CFD2-C97A-AD44-BDFA-538D104FE684}"/>
              </a:ext>
            </a:extLst>
          </p:cNvPr>
          <p:cNvSpPr/>
          <p:nvPr/>
        </p:nvSpPr>
        <p:spPr>
          <a:xfrm>
            <a:off x="4413933" y="4352944"/>
            <a:ext cx="3107454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Match series of range of characters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CB9C13-2849-7340-A74A-A8EE5A9E4E78}"/>
              </a:ext>
            </a:extLst>
          </p:cNvPr>
          <p:cNvSpPr/>
          <p:nvPr/>
        </p:nvSpPr>
        <p:spPr>
          <a:xfrm>
            <a:off x="5291577" y="5129732"/>
            <a:ext cx="1352165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Replace string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94EE18-8D2E-B948-9F52-0F60AADDB3D6}"/>
              </a:ext>
            </a:extLst>
          </p:cNvPr>
          <p:cNvSpPr/>
          <p:nvPr/>
        </p:nvSpPr>
        <p:spPr>
          <a:xfrm>
            <a:off x="4754088" y="6045939"/>
            <a:ext cx="2217659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Match a single character</a:t>
            </a:r>
            <a:endParaRPr lang="en-US" sz="16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7555197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873242" y="88881"/>
            <a:ext cx="340561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Find a word in a string</a:t>
            </a: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648132E3-39C9-144C-B2FF-A54E1AB0624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7" t="14009" r="23278" b="70970"/>
          <a:stretch/>
        </p:blipFill>
        <p:spPr>
          <a:xfrm>
            <a:off x="1994477" y="1132124"/>
            <a:ext cx="8203046" cy="133511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2418FC9-0783-7041-8F87-63993CA25CA2}"/>
              </a:ext>
            </a:extLst>
          </p:cNvPr>
          <p:cNvSpPr/>
          <p:nvPr/>
        </p:nvSpPr>
        <p:spPr>
          <a:xfrm>
            <a:off x="1994477" y="1132124"/>
            <a:ext cx="8203046" cy="1335117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5F214B5-3C45-234F-8648-31B6136F1BA5}"/>
              </a:ext>
            </a:extLst>
          </p:cNvPr>
          <p:cNvSpPr/>
          <p:nvPr/>
        </p:nvSpPr>
        <p:spPr>
          <a:xfrm>
            <a:off x="1285280" y="2608367"/>
            <a:ext cx="87075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2" name="Picture 11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75BB3676-61DE-6E48-ADCE-D8E14072E55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942" t="29886" r="1596" b="62341"/>
          <a:stretch/>
        </p:blipFill>
        <p:spPr>
          <a:xfrm>
            <a:off x="2156031" y="2873428"/>
            <a:ext cx="7646300" cy="6940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D15CE32D-5624-9741-B912-C73C343AF1E8}"/>
              </a:ext>
            </a:extLst>
          </p:cNvPr>
          <p:cNvSpPr/>
          <p:nvPr/>
        </p:nvSpPr>
        <p:spPr>
          <a:xfrm>
            <a:off x="2156031" y="2873428"/>
            <a:ext cx="7646300" cy="69408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530EF08-DF6D-D343-BB23-9919325539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8" t="38987" r="1652" b="48355"/>
          <a:stretch/>
        </p:blipFill>
        <p:spPr>
          <a:xfrm>
            <a:off x="1770245" y="3832569"/>
            <a:ext cx="8651510" cy="100930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57C42FB9-66AB-164F-A7D2-51D14DA89A94}"/>
              </a:ext>
            </a:extLst>
          </p:cNvPr>
          <p:cNvSpPr/>
          <p:nvPr/>
        </p:nvSpPr>
        <p:spPr>
          <a:xfrm>
            <a:off x="1770245" y="3832569"/>
            <a:ext cx="8651510" cy="100930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59B19F8-762E-3444-B41B-B20AACBC8AE8}"/>
              </a:ext>
            </a:extLst>
          </p:cNvPr>
          <p:cNvSpPr/>
          <p:nvPr/>
        </p:nvSpPr>
        <p:spPr>
          <a:xfrm>
            <a:off x="1559101" y="4932836"/>
            <a:ext cx="870751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21" name="Picture 2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9AD4B9B9-4A37-7B4C-8CE5-25031460BB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84" t="51765" r="735" b="41523"/>
          <a:stretch/>
        </p:blipFill>
        <p:spPr>
          <a:xfrm>
            <a:off x="2225498" y="5349007"/>
            <a:ext cx="7507366" cy="45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5772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4134093" y="519970"/>
            <a:ext cx="31528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Generate an iterator</a:t>
            </a:r>
            <a:endParaRPr lang="en-US" sz="28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0875AFE-4FBD-8449-AF89-22C34265A7F2}"/>
              </a:ext>
            </a:extLst>
          </p:cNvPr>
          <p:cNvSpPr/>
          <p:nvPr/>
        </p:nvSpPr>
        <p:spPr>
          <a:xfrm>
            <a:off x="1526780" y="3748500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4" name="Picture 1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252E3780-6CF5-FB4C-8269-CD30D0E81EA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915" t="58621" r="3712" b="23621"/>
          <a:stretch/>
        </p:blipFill>
        <p:spPr>
          <a:xfrm>
            <a:off x="1526780" y="1863524"/>
            <a:ext cx="9156653" cy="1507355"/>
          </a:xfrm>
          <a:prstGeom prst="rect">
            <a:avLst/>
          </a:prstGeom>
        </p:spPr>
      </p:pic>
      <p:pic>
        <p:nvPicPr>
          <p:cNvPr id="15" name="Picture 1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B5E967D-5B63-DF4C-86B7-3ED99CA4563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96" t="76393" r="1369" b="16780"/>
          <a:stretch/>
        </p:blipFill>
        <p:spPr>
          <a:xfrm>
            <a:off x="1979271" y="4533099"/>
            <a:ext cx="7947267" cy="523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039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2973712" y="519970"/>
            <a:ext cx="54736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Match words with particular pattern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367E5A7-85D7-CB49-81EA-411A131F1EFC}"/>
              </a:ext>
            </a:extLst>
          </p:cNvPr>
          <p:cNvSpPr/>
          <p:nvPr/>
        </p:nvSpPr>
        <p:spPr>
          <a:xfrm>
            <a:off x="1587941" y="3636456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3" name="Picture 12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C23B5BA3-786D-EC47-9C19-10B51CE05C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339" t="73439" r="13045" b="14620"/>
          <a:stretch/>
        </p:blipFill>
        <p:spPr>
          <a:xfrm>
            <a:off x="1932972" y="1738382"/>
            <a:ext cx="8009681" cy="130794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574C35D-682C-7644-AA26-55D8B20716C1}"/>
              </a:ext>
            </a:extLst>
          </p:cNvPr>
          <p:cNvSpPr/>
          <p:nvPr/>
        </p:nvSpPr>
        <p:spPr>
          <a:xfrm>
            <a:off x="1932972" y="1738382"/>
            <a:ext cx="8009681" cy="130794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DE40FC8B-14A9-6640-A4AC-9E1CE39E84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9234" t="86547" r="12061" b="5823"/>
          <a:stretch/>
        </p:blipFill>
        <p:spPr>
          <a:xfrm>
            <a:off x="1932972" y="4488200"/>
            <a:ext cx="7654726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4899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061463" y="519970"/>
            <a:ext cx="529811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Match </a:t>
            </a:r>
            <a:r>
              <a:rPr 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series of range of characters</a:t>
            </a:r>
            <a:endParaRPr lang="en-US" sz="28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7F2E00E-B0A0-4C47-9B7C-1513088394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8" t="18060" r="2460" b="65232"/>
          <a:stretch/>
        </p:blipFill>
        <p:spPr>
          <a:xfrm>
            <a:off x="1878326" y="1563159"/>
            <a:ext cx="8133775" cy="148795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5EF6953-93ED-5D48-AF40-CC7047837021}"/>
              </a:ext>
            </a:extLst>
          </p:cNvPr>
          <p:cNvSpPr/>
          <p:nvPr/>
        </p:nvSpPr>
        <p:spPr>
          <a:xfrm>
            <a:off x="1878326" y="1563159"/>
            <a:ext cx="8133775" cy="1487955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BA938EA-268B-AE44-A857-50CA49A683A4}"/>
              </a:ext>
            </a:extLst>
          </p:cNvPr>
          <p:cNvSpPr/>
          <p:nvPr/>
        </p:nvSpPr>
        <p:spPr>
          <a:xfrm>
            <a:off x="1807594" y="3428959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7" name="Picture 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14806F3-F1BC-1F41-9E1D-426BC9199AB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79" t="36287" r="6097" b="57628"/>
          <a:stretch/>
        </p:blipFill>
        <p:spPr>
          <a:xfrm>
            <a:off x="2139510" y="4330023"/>
            <a:ext cx="7611405" cy="637813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3D637CF-B542-7E46-A364-5837602C091B}"/>
              </a:ext>
            </a:extLst>
          </p:cNvPr>
          <p:cNvSpPr/>
          <p:nvPr/>
        </p:nvSpPr>
        <p:spPr>
          <a:xfrm>
            <a:off x="2139510" y="4330023"/>
            <a:ext cx="7611405" cy="63781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7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184255" y="519970"/>
            <a:ext cx="5052537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Using ^ in the range of characters</a:t>
            </a:r>
            <a:endParaRPr lang="en-US" sz="28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20C7E13-64C3-9E46-901C-721CDB78D1D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7" t="44726" r="1020" b="38059"/>
          <a:stretch/>
        </p:blipFill>
        <p:spPr>
          <a:xfrm>
            <a:off x="1548113" y="1761886"/>
            <a:ext cx="9095773" cy="135170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7F96EF6-F55A-684E-82A8-59A9A105CC8F}"/>
              </a:ext>
            </a:extLst>
          </p:cNvPr>
          <p:cNvSpPr/>
          <p:nvPr/>
        </p:nvSpPr>
        <p:spPr>
          <a:xfrm>
            <a:off x="1379597" y="3482801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7AE05E4-0295-F449-84C0-033B1A5B75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460" t="63595" r="2460" b="28776"/>
          <a:stretch/>
        </p:blipFill>
        <p:spPr>
          <a:xfrm>
            <a:off x="1796003" y="4190326"/>
            <a:ext cx="8599991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6474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725395" y="441938"/>
            <a:ext cx="39702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Replace a pa</a:t>
            </a:r>
            <a:r>
              <a:rPr 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rticular string</a:t>
            </a:r>
            <a:endParaRPr lang="en-US" sz="2800" b="0" cap="none" spc="0" dirty="0">
              <a:ln w="0"/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C7AD64B-3BDA-154B-A968-5F117D3DFC1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88" t="72068" r="2460" b="10042"/>
          <a:stretch/>
        </p:blipFill>
        <p:spPr>
          <a:xfrm>
            <a:off x="1754268" y="1650164"/>
            <a:ext cx="8683463" cy="132452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53A0C53-2EFD-E14C-82F8-9F793688413B}"/>
              </a:ext>
            </a:extLst>
          </p:cNvPr>
          <p:cNvSpPr/>
          <p:nvPr/>
        </p:nvSpPr>
        <p:spPr>
          <a:xfrm>
            <a:off x="1414320" y="3429000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Picture 5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3D6B41F-5BFA-3846-AFCD-2540358D406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1169" r="4920" b="3966"/>
          <a:stretch/>
        </p:blipFill>
        <p:spPr>
          <a:xfrm>
            <a:off x="1912855" y="4131516"/>
            <a:ext cx="8366288" cy="5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557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711775" y="441938"/>
            <a:ext cx="399750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Escape Character problem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A0C53-2EFD-E14C-82F8-9F793688413B}"/>
              </a:ext>
            </a:extLst>
          </p:cNvPr>
          <p:cNvSpPr/>
          <p:nvPr/>
        </p:nvSpPr>
        <p:spPr>
          <a:xfrm>
            <a:off x="1310147" y="2510794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16A384D-9477-204C-ACE9-E5B83B2FDFF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327" t="26498" r="3657" b="63206"/>
          <a:stretch/>
        </p:blipFill>
        <p:spPr>
          <a:xfrm>
            <a:off x="1755493" y="1319514"/>
            <a:ext cx="8681013" cy="1098534"/>
          </a:xfrm>
          <a:prstGeom prst="rect">
            <a:avLst/>
          </a:prstGeom>
        </p:spPr>
      </p:pic>
      <p:pic>
        <p:nvPicPr>
          <p:cNvPr id="13" name="Picture 1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83FE2393-0B30-2F43-9C42-F98440B8D8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86" t="38071" r="5499" b="58048"/>
          <a:stretch/>
        </p:blipFill>
        <p:spPr>
          <a:xfrm>
            <a:off x="1755493" y="2993651"/>
            <a:ext cx="8855390" cy="482301"/>
          </a:xfrm>
          <a:prstGeom prst="rect">
            <a:avLst/>
          </a:prstGeom>
        </p:spPr>
      </p:pic>
      <p:pic>
        <p:nvPicPr>
          <p:cNvPr id="14" name="Picture 13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D0D77496-C5CE-D14A-9DFC-7ACEDFC4DC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21" t="44251" r="3191" b="48588"/>
          <a:stretch/>
        </p:blipFill>
        <p:spPr>
          <a:xfrm>
            <a:off x="1668304" y="3960067"/>
            <a:ext cx="8855390" cy="810228"/>
          </a:xfrm>
          <a:prstGeom prst="rect">
            <a:avLst/>
          </a:prstGeom>
        </p:spPr>
      </p:pic>
      <p:pic>
        <p:nvPicPr>
          <p:cNvPr id="15" name="Picture 1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B529407-7066-E248-97D3-1691575B17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87" t="52625" r="6188" b="44241"/>
          <a:stretch/>
        </p:blipFill>
        <p:spPr>
          <a:xfrm>
            <a:off x="1909823" y="5524539"/>
            <a:ext cx="8225742" cy="28960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D87FA8A-B18C-6C43-AA03-7CCC5F17C00E}"/>
              </a:ext>
            </a:extLst>
          </p:cNvPr>
          <p:cNvSpPr/>
          <p:nvPr/>
        </p:nvSpPr>
        <p:spPr>
          <a:xfrm>
            <a:off x="1606572" y="4905366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158053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824277" y="441938"/>
            <a:ext cx="37725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Match a Single character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A0C53-2EFD-E14C-82F8-9F793688413B}"/>
              </a:ext>
            </a:extLst>
          </p:cNvPr>
          <p:cNvSpPr/>
          <p:nvPr/>
        </p:nvSpPr>
        <p:spPr>
          <a:xfrm>
            <a:off x="1657388" y="3167390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A2C0CF10-599F-7F4E-B628-DD4502EB46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99" t="16540" r="3446" b="72321"/>
          <a:stretch/>
        </p:blipFill>
        <p:spPr>
          <a:xfrm>
            <a:off x="1761560" y="1932973"/>
            <a:ext cx="8505184" cy="1030146"/>
          </a:xfrm>
          <a:prstGeom prst="rect">
            <a:avLst/>
          </a:prstGeom>
        </p:spPr>
      </p:pic>
      <p:pic>
        <p:nvPicPr>
          <p:cNvPr id="17" name="Picture 16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08A714F5-B8D9-4947-A376-0E45E865079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727" t="27468" r="3235" b="68607"/>
          <a:stretch/>
        </p:blipFill>
        <p:spPr>
          <a:xfrm>
            <a:off x="1657389" y="3816354"/>
            <a:ext cx="8875574" cy="632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972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799117" y="441938"/>
            <a:ext cx="38228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Dealing with white 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A0C53-2EFD-E14C-82F8-9F793688413B}"/>
              </a:ext>
            </a:extLst>
          </p:cNvPr>
          <p:cNvSpPr/>
          <p:nvPr/>
        </p:nvSpPr>
        <p:spPr>
          <a:xfrm>
            <a:off x="1467451" y="3343154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88F6904-C38F-B345-BD99-C4A7C67E68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92" t="33755" r="3804" b="46492"/>
          <a:stretch/>
        </p:blipFill>
        <p:spPr>
          <a:xfrm>
            <a:off x="1601042" y="1540827"/>
            <a:ext cx="8572051" cy="1493134"/>
          </a:xfrm>
          <a:prstGeom prst="rect">
            <a:avLst/>
          </a:prstGeom>
        </p:spPr>
      </p:pic>
      <p:pic>
        <p:nvPicPr>
          <p:cNvPr id="13" name="Picture 1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1A634DD5-8F75-A645-A6AC-D86845A2F1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617" t="57018" r="1513" b="32813"/>
          <a:stretch/>
        </p:blipFill>
        <p:spPr>
          <a:xfrm>
            <a:off x="1601042" y="4175567"/>
            <a:ext cx="8989916" cy="69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0737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799117" y="441938"/>
            <a:ext cx="382284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Dealing with white space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3A0C53-2EFD-E14C-82F8-9F793688413B}"/>
              </a:ext>
            </a:extLst>
          </p:cNvPr>
          <p:cNvSpPr/>
          <p:nvPr/>
        </p:nvSpPr>
        <p:spPr>
          <a:xfrm>
            <a:off x="1409683" y="4025824"/>
            <a:ext cx="1253869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Output</a:t>
            </a:r>
            <a:endParaRPr lang="en-US" sz="2800" b="1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" name="Picture 2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C87F0702-885C-BB4A-9817-D1170A811D3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980" t="19266" r="13665" b="40366"/>
          <a:stretch/>
        </p:blipFill>
        <p:spPr>
          <a:xfrm>
            <a:off x="2036618" y="1407096"/>
            <a:ext cx="6528970" cy="2438400"/>
          </a:xfrm>
          <a:prstGeom prst="rect">
            <a:avLst/>
          </a:prstGeom>
        </p:spPr>
      </p:pic>
      <p:pic>
        <p:nvPicPr>
          <p:cNvPr id="6" name="Picture 5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157FAEDB-85D9-FE4F-A564-1E4B093EE1F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704" t="58703" r="11562" b="25891"/>
          <a:stretch/>
        </p:blipFill>
        <p:spPr>
          <a:xfrm>
            <a:off x="1884219" y="4729372"/>
            <a:ext cx="8326582" cy="1005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84925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3676258" y="441938"/>
            <a:ext cx="406855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Phone number verification</a:t>
            </a: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4DBAB140-7B7A-8C4D-87FC-D64BA85FD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724" y="1207766"/>
            <a:ext cx="1992012" cy="1802542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BD000BC-B0D8-7F46-8432-CF72CCF7D200}"/>
              </a:ext>
            </a:extLst>
          </p:cNvPr>
          <p:cNvSpPr/>
          <p:nvPr/>
        </p:nvSpPr>
        <p:spPr>
          <a:xfrm>
            <a:off x="4106613" y="1739705"/>
            <a:ext cx="5016759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 we are supposed to verify the phone numbers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4140E-81E8-1642-A03A-116EB26575FF}"/>
              </a:ext>
            </a:extLst>
          </p:cNvPr>
          <p:cNvSpPr/>
          <p:nvPr/>
        </p:nvSpPr>
        <p:spPr>
          <a:xfrm>
            <a:off x="4106613" y="1688294"/>
            <a:ext cx="5016759" cy="47215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2AB10-62FE-D243-9B0F-373DE1E47AC9}"/>
              </a:ext>
            </a:extLst>
          </p:cNvPr>
          <p:cNvSpPr txBox="1"/>
          <p:nvPr/>
        </p:nvSpPr>
        <p:spPr>
          <a:xfrm>
            <a:off x="1964724" y="3150973"/>
            <a:ext cx="1992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Problem Statement</a:t>
            </a:r>
            <a:r>
              <a:rPr lang="en-US" sz="1600" i="1" dirty="0"/>
              <a:t>:</a:t>
            </a:r>
          </a:p>
          <a:p>
            <a:r>
              <a:rPr lang="en-US" sz="1600" dirty="0"/>
              <a:t>To verify the phone numbers.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0B49BD3A-1839-694A-9669-0E959EBABC4F}"/>
              </a:ext>
            </a:extLst>
          </p:cNvPr>
          <p:cNvSpPr/>
          <p:nvPr/>
        </p:nvSpPr>
        <p:spPr>
          <a:xfrm>
            <a:off x="2187147" y="4127621"/>
            <a:ext cx="7821826" cy="210064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9BD72274-3AF7-D542-9722-F0DFDE65FA43}"/>
              </a:ext>
            </a:extLst>
          </p:cNvPr>
          <p:cNvSpPr/>
          <p:nvPr/>
        </p:nvSpPr>
        <p:spPr>
          <a:xfrm>
            <a:off x="2540079" y="4312972"/>
            <a:ext cx="2275355" cy="1729946"/>
          </a:xfrm>
          <a:prstGeom prst="flowChartAlternate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Phone Number</a:t>
            </a:r>
          </a:p>
          <a:p>
            <a:pPr algn="ctr"/>
            <a:r>
              <a:rPr lang="en-US" dirty="0"/>
              <a:t>444-122-1243</a:t>
            </a:r>
          </a:p>
          <a:p>
            <a:pPr algn="ctr"/>
            <a:r>
              <a:rPr lang="en-US" dirty="0"/>
              <a:t>123-122-78999</a:t>
            </a:r>
          </a:p>
          <a:p>
            <a:pPr algn="ctr"/>
            <a:r>
              <a:rPr lang="en-US" dirty="0"/>
              <a:t>111-123-23</a:t>
            </a:r>
          </a:p>
          <a:p>
            <a:pPr algn="ctr"/>
            <a:r>
              <a:rPr lang="en-US" dirty="0"/>
              <a:t>67-7890-2019</a:t>
            </a:r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E8389FB7-67E8-B64C-B29C-229C563CD3E7}"/>
              </a:ext>
            </a:extLst>
          </p:cNvPr>
          <p:cNvSpPr/>
          <p:nvPr/>
        </p:nvSpPr>
        <p:spPr>
          <a:xfrm>
            <a:off x="5380595" y="4927494"/>
            <a:ext cx="715405" cy="395417"/>
          </a:xfrm>
          <a:prstGeom prst="chevr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BF9636-95A5-1447-8EF4-F55509E6499A}"/>
              </a:ext>
            </a:extLst>
          </p:cNvPr>
          <p:cNvSpPr/>
          <p:nvPr/>
        </p:nvSpPr>
        <p:spPr>
          <a:xfrm>
            <a:off x="6512011" y="4596714"/>
            <a:ext cx="3139910" cy="117389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600" dirty="0"/>
              <a:t>All phone numbers should have: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3 starting digits and ‘-’ sign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3 middle digit and ‘-’ sign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sz="1600" dirty="0"/>
              <a:t>4digits in the end</a:t>
            </a: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65982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4310215" y="441938"/>
            <a:ext cx="280063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E-mail verification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D000BC-B0D8-7F46-8432-CF72CCF7D200}"/>
              </a:ext>
            </a:extLst>
          </p:cNvPr>
          <p:cNvSpPr/>
          <p:nvPr/>
        </p:nvSpPr>
        <p:spPr>
          <a:xfrm>
            <a:off x="4067568" y="1739705"/>
            <a:ext cx="5094856" cy="369332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Here we are supposed to verify the E-mail addresses</a:t>
            </a:r>
            <a:endParaRPr lang="en-US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24140E-81E8-1642-A03A-116EB26575FF}"/>
              </a:ext>
            </a:extLst>
          </p:cNvPr>
          <p:cNvSpPr/>
          <p:nvPr/>
        </p:nvSpPr>
        <p:spPr>
          <a:xfrm>
            <a:off x="4106613" y="1688294"/>
            <a:ext cx="5016759" cy="472154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2AB10-62FE-D243-9B0F-373DE1E47AC9}"/>
              </a:ext>
            </a:extLst>
          </p:cNvPr>
          <p:cNvSpPr txBox="1"/>
          <p:nvPr/>
        </p:nvSpPr>
        <p:spPr>
          <a:xfrm>
            <a:off x="1964724" y="3150973"/>
            <a:ext cx="199201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Problem Statement</a:t>
            </a:r>
            <a:r>
              <a:rPr lang="en-US" sz="1600" i="1" dirty="0"/>
              <a:t>:</a:t>
            </a:r>
          </a:p>
          <a:p>
            <a:r>
              <a:rPr lang="en-US" sz="1600" dirty="0"/>
              <a:t>To verify the E-mail addresses.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0B49BD3A-1839-694A-9669-0E959EBABC4F}"/>
              </a:ext>
            </a:extLst>
          </p:cNvPr>
          <p:cNvSpPr/>
          <p:nvPr/>
        </p:nvSpPr>
        <p:spPr>
          <a:xfrm>
            <a:off x="2187147" y="4127621"/>
            <a:ext cx="7821826" cy="2100649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9BD72274-3AF7-D542-9722-F0DFDE65FA43}"/>
              </a:ext>
            </a:extLst>
          </p:cNvPr>
          <p:cNvSpPr/>
          <p:nvPr/>
        </p:nvSpPr>
        <p:spPr>
          <a:xfrm>
            <a:off x="2540079" y="4312972"/>
            <a:ext cx="2275355" cy="1729946"/>
          </a:xfrm>
          <a:prstGeom prst="flowChartAlternateProcess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E-mail:</a:t>
            </a:r>
          </a:p>
          <a:p>
            <a:pPr algn="ctr"/>
            <a:r>
              <a:rPr lang="en-US" sz="1600" u="sng" dirty="0">
                <a:solidFill>
                  <a:schemeClr val="accent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Sauraph@gmail.com</a:t>
            </a:r>
            <a:endParaRPr lang="en-US" sz="1600" u="sng" dirty="0">
              <a:solidFill>
                <a:schemeClr val="accent1"/>
              </a:solidFill>
            </a:endParaRPr>
          </a:p>
          <a:p>
            <a:pPr algn="ctr"/>
            <a:r>
              <a:rPr lang="en-US" sz="1600" u="sng" dirty="0" err="1">
                <a:solidFill>
                  <a:schemeClr val="accent1"/>
                </a:solidFill>
              </a:rPr>
              <a:t>Reyshma@com</a:t>
            </a:r>
            <a:endParaRPr lang="en-US" sz="1600" u="sng" dirty="0">
              <a:solidFill>
                <a:schemeClr val="accent1"/>
              </a:solidFill>
            </a:endParaRPr>
          </a:p>
          <a:p>
            <a:pPr algn="ctr"/>
            <a:r>
              <a:rPr lang="en-US" sz="1600" u="sng" dirty="0" err="1">
                <a:solidFill>
                  <a:schemeClr val="accent1"/>
                </a:solidFill>
              </a:rPr>
              <a:t>Kv.com</a:t>
            </a:r>
            <a:endParaRPr lang="en-US" sz="1600" u="sng" dirty="0">
              <a:solidFill>
                <a:schemeClr val="accent1"/>
              </a:solidFill>
            </a:endParaRPr>
          </a:p>
          <a:p>
            <a:pPr algn="ctr"/>
            <a:r>
              <a:rPr lang="en-US" sz="1600" u="sng" dirty="0">
                <a:solidFill>
                  <a:schemeClr val="accent1"/>
                </a:solidFill>
              </a:rPr>
              <a:t>123 @ .com</a:t>
            </a:r>
          </a:p>
          <a:p>
            <a:pPr algn="ctr"/>
            <a:endParaRPr lang="en-US" dirty="0"/>
          </a:p>
        </p:txBody>
      </p:sp>
      <p:sp>
        <p:nvSpPr>
          <p:cNvPr id="12" name="Chevron 11">
            <a:extLst>
              <a:ext uri="{FF2B5EF4-FFF2-40B4-BE49-F238E27FC236}">
                <a16:creationId xmlns:a16="http://schemas.microsoft.com/office/drawing/2014/main" id="{E8389FB7-67E8-B64C-B29C-229C563CD3E7}"/>
              </a:ext>
            </a:extLst>
          </p:cNvPr>
          <p:cNvSpPr/>
          <p:nvPr/>
        </p:nvSpPr>
        <p:spPr>
          <a:xfrm>
            <a:off x="5380595" y="4927494"/>
            <a:ext cx="715405" cy="395417"/>
          </a:xfrm>
          <a:prstGeom prst="chevron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FBF9636-95A5-1447-8EF4-F55509E6499A}"/>
              </a:ext>
            </a:extLst>
          </p:cNvPr>
          <p:cNvSpPr/>
          <p:nvPr/>
        </p:nvSpPr>
        <p:spPr>
          <a:xfrm>
            <a:off x="6247219" y="4329623"/>
            <a:ext cx="3555921" cy="1729945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600" dirty="0"/>
          </a:p>
          <a:p>
            <a:pPr algn="ctr"/>
            <a:r>
              <a:rPr lang="en-US" sz="1400" dirty="0"/>
              <a:t>E-mail address should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1 to 20 lowercase and uppercase letters, numbers, plus._-+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An@ symbol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to 20 lowercase and uppercase numbers, plus.-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 period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2 to3 lowercase and uppercase letters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pic>
        <p:nvPicPr>
          <p:cNvPr id="13" name="Picture 12" descr="Icon&#10;&#10;Description automatically generated">
            <a:extLst>
              <a:ext uri="{FF2B5EF4-FFF2-40B4-BE49-F238E27FC236}">
                <a16:creationId xmlns:a16="http://schemas.microsoft.com/office/drawing/2014/main" id="{060557A6-FF5E-6246-ADAA-B7EEFE3ACB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81380" y="1152467"/>
            <a:ext cx="2275356" cy="15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5380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09A15DF-1018-7841-BAC6-D2EC78AB5294}"/>
              </a:ext>
            </a:extLst>
          </p:cNvPr>
          <p:cNvSpPr/>
          <p:nvPr/>
        </p:nvSpPr>
        <p:spPr>
          <a:xfrm>
            <a:off x="4623382" y="441938"/>
            <a:ext cx="217431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Web Scraping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F2AB10-62FE-D243-9B0F-373DE1E47AC9}"/>
              </a:ext>
            </a:extLst>
          </p:cNvPr>
          <p:cNvSpPr txBox="1"/>
          <p:nvPr/>
        </p:nvSpPr>
        <p:spPr>
          <a:xfrm>
            <a:off x="1921972" y="1407096"/>
            <a:ext cx="69172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Problem Statement</a:t>
            </a:r>
            <a:r>
              <a:rPr lang="en-US" sz="1600" i="1" dirty="0"/>
              <a:t>:</a:t>
            </a:r>
          </a:p>
          <a:p>
            <a:r>
              <a:rPr lang="en-US" sz="1600" dirty="0"/>
              <a:t>Scrap all the phone numbers from a webpage using Regular Expressions.</a:t>
            </a:r>
          </a:p>
        </p:txBody>
      </p:sp>
      <p:pic>
        <p:nvPicPr>
          <p:cNvPr id="3" name="Picture 2" descr="Diagram&#10;&#10;Description automatically generated with low confidence">
            <a:extLst>
              <a:ext uri="{FF2B5EF4-FFF2-40B4-BE49-F238E27FC236}">
                <a16:creationId xmlns:a16="http://schemas.microsoft.com/office/drawing/2014/main" id="{93CF4870-52AA-3B43-A6A0-59844D3C64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0" b="6964"/>
          <a:stretch/>
        </p:blipFill>
        <p:spPr>
          <a:xfrm>
            <a:off x="2850962" y="2954671"/>
            <a:ext cx="926483" cy="1206682"/>
          </a:xfrm>
          <a:prstGeom prst="rect">
            <a:avLst/>
          </a:prstGeom>
        </p:spPr>
      </p:pic>
      <p:pic>
        <p:nvPicPr>
          <p:cNvPr id="15" name="Picture 14" descr="Diagram&#10;&#10;Description automatically generated with low confidence">
            <a:extLst>
              <a:ext uri="{FF2B5EF4-FFF2-40B4-BE49-F238E27FC236}">
                <a16:creationId xmlns:a16="http://schemas.microsoft.com/office/drawing/2014/main" id="{3FF21735-3CD4-7241-8DC9-3C68940AC5C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0" b="6964"/>
          <a:stretch/>
        </p:blipFill>
        <p:spPr>
          <a:xfrm>
            <a:off x="3003362" y="3107071"/>
            <a:ext cx="926483" cy="1206682"/>
          </a:xfrm>
          <a:prstGeom prst="rect">
            <a:avLst/>
          </a:prstGeom>
        </p:spPr>
      </p:pic>
      <p:pic>
        <p:nvPicPr>
          <p:cNvPr id="16" name="Picture 15" descr="Diagram&#10;&#10;Description automatically generated with low confidence">
            <a:extLst>
              <a:ext uri="{FF2B5EF4-FFF2-40B4-BE49-F238E27FC236}">
                <a16:creationId xmlns:a16="http://schemas.microsoft.com/office/drawing/2014/main" id="{4E2FCBC6-7D11-2945-A5BB-01D175A3ADA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0" b="6964"/>
          <a:stretch/>
        </p:blipFill>
        <p:spPr>
          <a:xfrm>
            <a:off x="3155762" y="3259471"/>
            <a:ext cx="926483" cy="1206682"/>
          </a:xfrm>
          <a:prstGeom prst="rect">
            <a:avLst/>
          </a:prstGeom>
        </p:spPr>
      </p:pic>
      <p:pic>
        <p:nvPicPr>
          <p:cNvPr id="17" name="Picture 16" descr="Diagram&#10;&#10;Description automatically generated with low confidence">
            <a:extLst>
              <a:ext uri="{FF2B5EF4-FFF2-40B4-BE49-F238E27FC236}">
                <a16:creationId xmlns:a16="http://schemas.microsoft.com/office/drawing/2014/main" id="{5671A1BA-FA44-2A42-8A74-74F3CFA4AC3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80" b="6964"/>
          <a:stretch/>
        </p:blipFill>
        <p:spPr>
          <a:xfrm>
            <a:off x="3308162" y="3411871"/>
            <a:ext cx="926483" cy="1206682"/>
          </a:xfrm>
          <a:prstGeom prst="rect">
            <a:avLst/>
          </a:prstGeom>
        </p:spPr>
      </p:pic>
      <p:sp>
        <p:nvSpPr>
          <p:cNvPr id="18" name="Right Arrow 17">
            <a:extLst>
              <a:ext uri="{FF2B5EF4-FFF2-40B4-BE49-F238E27FC236}">
                <a16:creationId xmlns:a16="http://schemas.microsoft.com/office/drawing/2014/main" id="{B63DF92F-79EC-3745-B279-25B0C8A73F47}"/>
              </a:ext>
            </a:extLst>
          </p:cNvPr>
          <p:cNvSpPr/>
          <p:nvPr/>
        </p:nvSpPr>
        <p:spPr>
          <a:xfrm>
            <a:off x="4490045" y="3738583"/>
            <a:ext cx="757213" cy="4509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A picture containing text, whiteboard&#10;&#10;Description automatically generated">
            <a:extLst>
              <a:ext uri="{FF2B5EF4-FFF2-40B4-BE49-F238E27FC236}">
                <a16:creationId xmlns:a16="http://schemas.microsoft.com/office/drawing/2014/main" id="{B77C861D-85CE-E746-88C1-DDBFB815413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2517" t="8589" r="10660" b="9565"/>
          <a:stretch/>
        </p:blipFill>
        <p:spPr>
          <a:xfrm>
            <a:off x="5281217" y="2859065"/>
            <a:ext cx="1791319" cy="1908453"/>
          </a:xfrm>
          <a:prstGeom prst="rect">
            <a:avLst/>
          </a:prstGeom>
        </p:spPr>
      </p:pic>
      <p:sp>
        <p:nvSpPr>
          <p:cNvPr id="23" name="Right Arrow 22">
            <a:extLst>
              <a:ext uri="{FF2B5EF4-FFF2-40B4-BE49-F238E27FC236}">
                <a16:creationId xmlns:a16="http://schemas.microsoft.com/office/drawing/2014/main" id="{2414696A-A62A-F043-86BC-368D3239685F}"/>
              </a:ext>
            </a:extLst>
          </p:cNvPr>
          <p:cNvSpPr/>
          <p:nvPr/>
        </p:nvSpPr>
        <p:spPr>
          <a:xfrm rot="19756718">
            <a:off x="7378633" y="2668605"/>
            <a:ext cx="795350" cy="4169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0F83F9AA-1A85-F545-9E62-6BC3A3C96626}"/>
              </a:ext>
            </a:extLst>
          </p:cNvPr>
          <p:cNvSpPr/>
          <p:nvPr/>
        </p:nvSpPr>
        <p:spPr>
          <a:xfrm>
            <a:off x="7579601" y="3566359"/>
            <a:ext cx="795350" cy="4169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>
            <a:extLst>
              <a:ext uri="{FF2B5EF4-FFF2-40B4-BE49-F238E27FC236}">
                <a16:creationId xmlns:a16="http://schemas.microsoft.com/office/drawing/2014/main" id="{AE843ABB-363C-3646-9F70-DC836D12F4D6}"/>
              </a:ext>
            </a:extLst>
          </p:cNvPr>
          <p:cNvSpPr/>
          <p:nvPr/>
        </p:nvSpPr>
        <p:spPr>
          <a:xfrm rot="1087305">
            <a:off x="7395650" y="4487652"/>
            <a:ext cx="795350" cy="4169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 descr="Icon&#10;&#10;Description automatically generated">
            <a:extLst>
              <a:ext uri="{FF2B5EF4-FFF2-40B4-BE49-F238E27FC236}">
                <a16:creationId xmlns:a16="http://schemas.microsoft.com/office/drawing/2014/main" id="{C6CB4DAA-7A9D-AC48-AE5A-AE4FC130CDA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3747" t="10967" r="33565" b="7986"/>
          <a:stretch/>
        </p:blipFill>
        <p:spPr>
          <a:xfrm>
            <a:off x="8491521" y="4343230"/>
            <a:ext cx="795350" cy="848576"/>
          </a:xfrm>
          <a:prstGeom prst="rect">
            <a:avLst/>
          </a:prstGeom>
        </p:spPr>
      </p:pic>
      <p:pic>
        <p:nvPicPr>
          <p:cNvPr id="29" name="Picture 28" descr="Table, whiteboard&#10;&#10;Description automatically generated with medium confidence">
            <a:extLst>
              <a:ext uri="{FF2B5EF4-FFF2-40B4-BE49-F238E27FC236}">
                <a16:creationId xmlns:a16="http://schemas.microsoft.com/office/drawing/2014/main" id="{B14F28FC-2716-ED45-A8B5-1B7C42DECA87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6097" t="6548" r="6097" b="10628"/>
          <a:stretch/>
        </p:blipFill>
        <p:spPr>
          <a:xfrm>
            <a:off x="8514861" y="3189660"/>
            <a:ext cx="734309" cy="823517"/>
          </a:xfrm>
          <a:prstGeom prst="rect">
            <a:avLst/>
          </a:prstGeom>
        </p:spPr>
      </p:pic>
      <p:pic>
        <p:nvPicPr>
          <p:cNvPr id="31" name="Picture 30" descr="Text&#10;&#10;Description automatically generated with medium confidence">
            <a:extLst>
              <a:ext uri="{FF2B5EF4-FFF2-40B4-BE49-F238E27FC236}">
                <a16:creationId xmlns:a16="http://schemas.microsoft.com/office/drawing/2014/main" id="{773DDD4E-23BA-3049-AD9D-EEA77D39B94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8081" t="13018" r="19230" b="8371"/>
          <a:stretch/>
        </p:blipFill>
        <p:spPr>
          <a:xfrm>
            <a:off x="8480080" y="2137712"/>
            <a:ext cx="656716" cy="823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834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ext, table&#10;&#10;Description automatically generated">
            <a:extLst>
              <a:ext uri="{FF2B5EF4-FFF2-40B4-BE49-F238E27FC236}">
                <a16:creationId xmlns:a16="http://schemas.microsoft.com/office/drawing/2014/main" id="{46EB0443-CE94-7442-805F-05960E653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250" y="692727"/>
            <a:ext cx="7429500" cy="5028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4657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 descr="Table&#10;&#10;Description automatically generated with medium confidence">
            <a:extLst>
              <a:ext uri="{FF2B5EF4-FFF2-40B4-BE49-F238E27FC236}">
                <a16:creationId xmlns:a16="http://schemas.microsoft.com/office/drawing/2014/main" id="{286531FF-82A5-054A-8D5B-6C3B62A6CA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0330" y="1104822"/>
            <a:ext cx="7671339" cy="4648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007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AD21898E-86C0-4C8A-A76C-DF33E844C8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9542" y="0"/>
            <a:ext cx="10432916" cy="6858000"/>
          </a:xfrm>
          <a:custGeom>
            <a:avLst/>
            <a:gdLst>
              <a:gd name="connsiteX0" fmla="*/ 1287962 w 10432916"/>
              <a:gd name="connsiteY0" fmla="*/ 0 h 6858000"/>
              <a:gd name="connsiteX1" fmla="*/ 9144956 w 10432916"/>
              <a:gd name="connsiteY1" fmla="*/ 0 h 6858000"/>
              <a:gd name="connsiteX2" fmla="*/ 9241731 w 10432916"/>
              <a:gd name="connsiteY2" fmla="*/ 111692 h 6858000"/>
              <a:gd name="connsiteX3" fmla="*/ 10432916 w 10432916"/>
              <a:gd name="connsiteY3" fmla="*/ 3429001 h 6858000"/>
              <a:gd name="connsiteX4" fmla="*/ 9241730 w 10432916"/>
              <a:gd name="connsiteY4" fmla="*/ 6746310 h 6858000"/>
              <a:gd name="connsiteX5" fmla="*/ 9144957 w 10432916"/>
              <a:gd name="connsiteY5" fmla="*/ 6858000 h 6858000"/>
              <a:gd name="connsiteX6" fmla="*/ 1287959 w 10432916"/>
              <a:gd name="connsiteY6" fmla="*/ 6858000 h 6858000"/>
              <a:gd name="connsiteX7" fmla="*/ 1191186 w 10432916"/>
              <a:gd name="connsiteY7" fmla="*/ 6746310 h 6858000"/>
              <a:gd name="connsiteX8" fmla="*/ 0 w 10432916"/>
              <a:gd name="connsiteY8" fmla="*/ 3429001 h 6858000"/>
              <a:gd name="connsiteX9" fmla="*/ 1191186 w 10432916"/>
              <a:gd name="connsiteY9" fmla="*/ 11169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432916" h="6858000">
                <a:moveTo>
                  <a:pt x="1287962" y="0"/>
                </a:moveTo>
                <a:lnTo>
                  <a:pt x="9144956" y="0"/>
                </a:lnTo>
                <a:lnTo>
                  <a:pt x="9241731" y="111692"/>
                </a:lnTo>
                <a:cubicBezTo>
                  <a:pt x="9985889" y="1013175"/>
                  <a:pt x="10432916" y="2168897"/>
                  <a:pt x="10432916" y="3429001"/>
                </a:cubicBezTo>
                <a:cubicBezTo>
                  <a:pt x="10432916" y="4689105"/>
                  <a:pt x="9985889" y="5844827"/>
                  <a:pt x="9241730" y="6746310"/>
                </a:cubicBezTo>
                <a:lnTo>
                  <a:pt x="9144957" y="6858000"/>
                </a:lnTo>
                <a:lnTo>
                  <a:pt x="1287959" y="6858000"/>
                </a:lnTo>
                <a:lnTo>
                  <a:pt x="1191186" y="6746310"/>
                </a:lnTo>
                <a:cubicBezTo>
                  <a:pt x="447027" y="5844827"/>
                  <a:pt x="0" y="4689105"/>
                  <a:pt x="0" y="3429001"/>
                </a:cubicBezTo>
                <a:cubicBezTo>
                  <a:pt x="0" y="2168897"/>
                  <a:pt x="447027" y="1013175"/>
                  <a:pt x="1191186" y="111692"/>
                </a:cubicBezTo>
                <a:close/>
              </a:path>
            </a:pathLst>
          </a:custGeom>
          <a:solidFill>
            <a:schemeClr val="tx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C8F04BD-D093-45D0-B54C-50FDB308B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34942" y="0"/>
            <a:ext cx="9922116" cy="6858000"/>
          </a:xfrm>
          <a:custGeom>
            <a:avLst/>
            <a:gdLst>
              <a:gd name="connsiteX0" fmla="*/ 1378575 w 9922116"/>
              <a:gd name="connsiteY0" fmla="*/ 0 h 6858000"/>
              <a:gd name="connsiteX1" fmla="*/ 8543542 w 9922116"/>
              <a:gd name="connsiteY1" fmla="*/ 0 h 6858000"/>
              <a:gd name="connsiteX2" fmla="*/ 8633323 w 9922116"/>
              <a:gd name="connsiteY2" fmla="*/ 94145 h 6858000"/>
              <a:gd name="connsiteX3" fmla="*/ 9922116 w 9922116"/>
              <a:gd name="connsiteY3" fmla="*/ 3429001 h 6858000"/>
              <a:gd name="connsiteX4" fmla="*/ 8633323 w 9922116"/>
              <a:gd name="connsiteY4" fmla="*/ 6763858 h 6858000"/>
              <a:gd name="connsiteX5" fmla="*/ 8543544 w 9922116"/>
              <a:gd name="connsiteY5" fmla="*/ 6858000 h 6858000"/>
              <a:gd name="connsiteX6" fmla="*/ 1378573 w 9922116"/>
              <a:gd name="connsiteY6" fmla="*/ 6858000 h 6858000"/>
              <a:gd name="connsiteX7" fmla="*/ 1288793 w 9922116"/>
              <a:gd name="connsiteY7" fmla="*/ 6763858 h 6858000"/>
              <a:gd name="connsiteX8" fmla="*/ 0 w 9922116"/>
              <a:gd name="connsiteY8" fmla="*/ 3429001 h 6858000"/>
              <a:gd name="connsiteX9" fmla="*/ 1288793 w 9922116"/>
              <a:gd name="connsiteY9" fmla="*/ 9414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22116" h="6858000">
                <a:moveTo>
                  <a:pt x="1378575" y="0"/>
                </a:moveTo>
                <a:lnTo>
                  <a:pt x="8543542" y="0"/>
                </a:lnTo>
                <a:lnTo>
                  <a:pt x="8633323" y="94145"/>
                </a:lnTo>
                <a:cubicBezTo>
                  <a:pt x="9434072" y="974941"/>
                  <a:pt x="9922116" y="2144991"/>
                  <a:pt x="9922116" y="3429001"/>
                </a:cubicBezTo>
                <a:cubicBezTo>
                  <a:pt x="9922116" y="4713011"/>
                  <a:pt x="9434072" y="5883061"/>
                  <a:pt x="8633323" y="6763858"/>
                </a:cubicBezTo>
                <a:lnTo>
                  <a:pt x="8543544" y="6858000"/>
                </a:lnTo>
                <a:lnTo>
                  <a:pt x="1378573" y="6858000"/>
                </a:lnTo>
                <a:lnTo>
                  <a:pt x="1288793" y="6763858"/>
                </a:lnTo>
                <a:cubicBezTo>
                  <a:pt x="488044" y="5883061"/>
                  <a:pt x="0" y="4713011"/>
                  <a:pt x="0" y="3429001"/>
                </a:cubicBezTo>
                <a:cubicBezTo>
                  <a:pt x="0" y="2144991"/>
                  <a:pt x="488044" y="974941"/>
                  <a:pt x="1288793" y="94145"/>
                </a:cubicBezTo>
                <a:close/>
              </a:path>
            </a:pathLst>
          </a:custGeom>
          <a:solidFill>
            <a:schemeClr val="bg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 descr="Table&#10;&#10;Description automatically generated">
            <a:extLst>
              <a:ext uri="{FF2B5EF4-FFF2-40B4-BE49-F238E27FC236}">
                <a16:creationId xmlns:a16="http://schemas.microsoft.com/office/drawing/2014/main" id="{99F931B5-04E1-1C4C-8888-D95EDE76D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6758" y="386159"/>
            <a:ext cx="5472000" cy="6085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132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7053</TotalTime>
  <Words>649</Words>
  <Application>Microsoft Macintosh PowerPoint</Application>
  <PresentationFormat>Widescreen</PresentationFormat>
  <Paragraphs>162</Paragraphs>
  <Slides>25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Calibri</vt:lpstr>
      <vt:lpstr>Calibri Light</vt:lpstr>
      <vt:lpstr>Wingdings</vt:lpstr>
      <vt:lpstr>Office Theme</vt:lpstr>
      <vt:lpstr>PowerPoint Presentation</vt:lpstr>
      <vt:lpstr>Agenda</vt:lpstr>
      <vt:lpstr>History</vt:lpstr>
      <vt:lpstr>PowerPoint Presentation</vt:lpstr>
      <vt:lpstr>What are Regular Expressions?</vt:lpstr>
      <vt:lpstr>Why We Use Regular Expressions?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ragavaselviks@gmail.com</dc:creator>
  <cp:lastModifiedBy>ragavaselviks@gmail.com</cp:lastModifiedBy>
  <cp:revision>13</cp:revision>
  <dcterms:created xsi:type="dcterms:W3CDTF">2021-03-12T22:39:46Z</dcterms:created>
  <dcterms:modified xsi:type="dcterms:W3CDTF">2021-03-18T11:02:53Z</dcterms:modified>
</cp:coreProperties>
</file>